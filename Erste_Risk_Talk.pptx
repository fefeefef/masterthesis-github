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Name, Betreuer, dass die Arbeit mit Erste-Bezug entstanden ist.
Nicht mit 'meine Masterarbeit über xLSTM' anfangen -- gleich zur Aufgabenstellung.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Trocken die Aufgabenstellung. Die drei RQs waren vorregistriert, Q4 und Q5 sind post hoc und
als solche deklariert -- das sage ich von selbst, weil es sonst als Vorwurf kommt.
Die n-Spalte ist die Zahl der Kontraste in der jeweiligen FDR-Familie.
Letzter Satz ist wichtig: Kalibrierung ist Gate, nicht Score. Damit ist die
Coverage-vs-Winkler-Frage vorweggenommen.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Ergebnisse vorweg, damit alles danach Beweisführung ist. Nicht jede Zeile vorlesen --
1, 3, 8 und 11 ansprechen, der Rest steht da und kann gelesen werden.
Die Slide-Spalte macht klar, dass jede Behauptung später belegt wird.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Zügig. Der eine Punkt, der hier zählt: Δ-Ziel, aber Bewertung in Levels.
Die 0.1/0.9-Begründung vorwegnehmen, das ist eine sichere Frage.
Bei 99 % hätte ich auf 127 Monaten fast keine Verletzungen und damit keine Testpower --
das dazusagen, falls gefragt.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Folie macht den Kovariaten-Befund auf Folie 16 überhaupt interpretierbar. Zeit nehmen.
Zwei Punkte:
 1. Die Featureauswahl ist NICHT meine Leistung und soll es nicht sein -- sie kommt aus einer
    ECB-Arbeit zu denselben zehn Ländern. Das macht den Nullbefund später glaubwürdiger.
 2. Keine Vintage-Daten, also revidierte Daten plus konservativer Lag. Preis: das Modell sieht
    teils veraltete Zahlen. Relevant, wenn wir sehen, dass die Kovariaten nichts bringen.
Konstruktion und Quelle je Feature liegen auf Anhang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Look-ahead-Bias ist das Erste, was hier geprüft wird -- deshalb Protokoll selbstbewusst und schnell.
Den TiRex-Informationsvorteil VON SELBST nennen, sonst kommt er als Vorwurf.
742 nicht als 12x5x3x14 rechnen, das wären 2520. Die Aufschlüsselung steht in der Tabelle und
vollständig auf Anhang C.
data_sha256: derselbe Hash über alle sieben Modellläufe belegt, dass niemand auf einer anderen
Datenversion gerechnet 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didaktische Brücke hier laut aussprechen: das ist dieselbe Logik wie im VaR-Backtesting,
nur auf ein 80-%-Intervall statt ein 99-%-Quantil. Kupiec und Christoffersen kennen sie.
Die Rationale-Tabelle ist bewusst da: jede der vier Entscheidungen ist angreifbar, und ich
nenne den Grund, bevor jemand fragt.
Der wichtigste Satz: Coverage ist trivial maximierbar, indem man das Intervall breiter macht --
deshalb Gate und nicht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Beide Maße hier definieren, BEVOR sie auf Folie 10 und 12 als Zahlen auftreten.
Die Winkler-Formel einmal langsam durchgehen: Breite plus Strafe, Strafe skaliert mit Abstand.
Die Leseregel groß ansagen -- ohne sie liest der Raum jede folgende Tabelle falsch herum.
Der Faktor 9.5 begründet, warum ich pro Land rechne: NL-Spread-Median 0.201, GR 1.907.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Nur Auffrischer, weil sie das Prinzip kennen. Der Regelkreis ist die Formulierung, die bei
Mathe-/Physik-Publikum sitzt.
Wichtigster Punkt ist die Disziplin-Tabelle unten: null getunte Parameter und die Schicht liegt
DOWNSTREAM. Deshalb ist ein Unterschied im Intervall ein Unterschied im Modell und nicht in der
Kalibrierung.
Einzeiler zu allen 14 Methoden liegen auf Anhang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Strategisch wichtig: räumt die Erwartung ab, dass es hier um bessere Punktprognosen geht.
Erst die Spaltendefinitionen zeigen, dann die Tabelle lesen -- sonst weiß niemand, was 1.104 ist.
Das Kontrollexperiment langsam sagen: ich habe geprüft, ob mein Nicht-Befund nur ein schwacher
Test ist. Ist er nicht.
Das rw-Artefakt selbst nennen, bevor es jemand findet.
Ansagen: dieser Nicht-Befund kommt bei der Kontaminationsfrage auf Folie 20 wieder.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ist die Aussage unangreifbar: rohe Modellquantile sind systematisch zu breit, die CP-Schicht
reparariert das Niveau.
Die DQ-Zerlegung im selben Atemzug offenlegen, nicht später. Das ist das Signal, dass ich nichts
verkaufe.
Der Schlusssatz ist der, den ich in diesem Raum sagen will -- bedingte Fehlkalibrierung, die von
marginaler Coverage maskiert wird, kennt hier jeder aus der Praxis.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Zuerst die Spalten benennen, dann lesen. Die Pakete sind vollständig ausgeschrieben --
Modell / Regime / CP-Methode.
Das Spitzenpaket ist tirex2/ZS/cqr_static mit 0.146. Ich nenne es als Bestes, sage aber im
gleichen Zug, dass es instabiler ist: 5.0 pp Unterdeckung, nur 8 von 10 Ländern, und eine
Kreuzungsrate, die in Portugal auf 32.3 % und im Extremfall auf 77.95 % geht.
decay_ocp_cqr kostet 0.002 Skill und ist überall zulässig -- das ist die Variante, die ich
einsetzen würde. Diese Unterscheidung ist der Punkt der Folie.
Rechte Tabelle: innerhalb EINES Modells spannen die 14 Methoden -0.044 bis +0.146. Die Wahl der
Kalibrierungsmethode ist so wichtig wie die Wahl des Modells.
Nebenbefund: dasselbe Modell liegt bei der Punktprognose exakt auf RW-Niveau (Folie 10). Der
Vorsprung sitzt vollständig in der Form der Verteilung, nicht im Zentrum.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Nicht entschuldigend sprechen. Das ist die namensgebende Architektur und sie ist die schwächste
Familie -- wenn ich das offen und mit Zahlen sage, glaubt mir der Raum alles andere.
Die Seed-Tabelle ist der Kern: der berichtete Wert 0.094 ist der BESTE von drei Seeds, die anderen
zwei sind nicht einmal zulässig. Ich habe das selbst aufgedeckt und vorher festgelegt, dass ich
dann keine Rangaussage treffe.
Falls 'Implementierungsfehler?': kann ich nicht ausschließen, aber LSTM läuft mit identischer
Pipeline besser, und ein Codefehler wäre systematisch statt seed-abhängig.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Formel oben wiederholen, damit die Zerlegung darauf abbildbar ist -- jede Zeile der Tabelle
ist ein Term der Formel.
Der einzige Block, in dem ich einen Mechanismus zeige statt eines Rankings.
72.8 % Breite erklärt, warum das Gate vor das Ranking muss.
Die Asymmetrie nicht kausal formulieren. Sie führt auf den Future-Work-Punkt: asymmetrische
Score-Familie.
Falls gefragt: auf den zulässigen Zellen ist die Asymmetrie 0.536 statt 0.505 -- die
Grundgesamtheit unterscheidet sich, und ich weise beide Werte aus.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Zwei Tabellen, dann die Reading-Tabelle. Konsequent gerichtet formulieren, nicht 'signifikant'.
Der Unterschied Panel-t vs q-Wert einmal erklären -- sonst wirkt die Tabelle widersprüchlich.
Die letzte Zeile der Reading-Tabelle ist der Anschluss an Folie 9 und rechtfertigt rückblickend,
warum ich 14 Methoden verglichen habe.
d ist der normalisierte DM-Verlustdifferenzial, geteilt durch den Referenz-Winkler.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originellste Einzelbefund der Arbeit. Zeit nehmen.
Warum er sauber ist: identisches Modell, identisches Fenster, identischer Seed, EIN Unterschied.
Kein anderer Vergleich in der Arbeit ist so kontrolliert -- keine Seed-Varianz, keine
Architekturänderung, kein Nachtunen.
18 von 140 bei 14 erwarteten ist genau das, was man unter der Nullhypothese sieht. Das sagen.
Die dritte Zeile der Result-Tabelle ist der wichtigste Teil -- ohne sie überdehnt man die Aussage
sofort zu 'Fundamentaldaten sind egal', und das wäre falsch.
Anschluss an Folie 5 (Lag, revidierte Daten) und Folie 10 (auch sonst schlägt niemand den RW).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Nur der Kapitalquotient zählt hier, die Handelsregel weise ich ausdrücklich als
nicht belastbar aus -- ~2 % aktive Monate sind ein bis zwei Trades von 127.
Vorzeichen der Korrelation erklären, sonst liest man -0.711 falschherum: niedriger Quotient
ist gut, also ist negativ der erwünschte Zusammenhang.
Der Kernsatz: die Gewinne sind in einer Kapitalkennzahl realisierbar, nicht im Handel.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Erst den scheinbaren Widerspruch: Coverage steigt auf einer Achse, fällt auf der anderen.
Dann mit der Orthogonalität auflösen: 12 von 36/38 Monaten überlappen, Korrelation 0.009.
Die praktisch relevanteste Aussage des Vortrags: das Paket mit dem besten Gesamtergebnis ist
nicht das, das in den Eintrittsmonaten hält.
Die F13-Zerlegung: der Gruppenmedian beschreibt kein einziges Modell, er fällt in die Lücke
zwischen lgbm (+0.064) und tirex (+0.119). Was verschwand, war ein Pretraining-Vorteil,
keine 'Komplexität'.
Caveat: VIX&gt;20 deckt nur 36 der 127 Monate, die Schätzer dort sind verrauscht.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Nicht hetzen und nicht entschuldigend sprechen. Gleicher Tonfall wie bei den Ergebnissen.
Bei Punkt 1 Folie 10 einkassieren: der Nicht-Befund bei der Punktprognose ist mein stärkstes
Gegenargument, und der Kontrolltest zeigt, dass es keine Power-Schwäche ist.
Bei Punkt 2 präzise: die Rangfolge ist deskriptiv; stabil über alle Robustheitsschnitte ist die
grobe Gruppierung Zero-Shot &gt;= LightGBM &gt; klassisch &gt; xLSTM. 'Stabil' heißt hier nicht
'statistisch nachgewiesen'.
Punkt 3 nenne ich von selbst, obwohl niemand danach fragen würde -- das ist der Punkt, an dem
ich zeige, dass ich mein eigenes Design kenne.
Diese Folie nimmt jede kritische Frage vorweg.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Mit den nächsten Schritten enden, nicht mit 'vielen Dank'. Alle drei hängen an einem konkreten
Befund aus dem Vortrag, nicht an Allgemeinplätzen.
Danach ansagen: Backup zu allen 17 Kovariaten mit Konstruktion, allen 14 CP-Methoden, der
742/21200-Arithmetik, den Cross-Model-Kontrasten und der MCS.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Die Quellenspalte ist der Punkt: die Auswahl ist literaturbasiert und nicht von mir optimiert.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wahrscheinlichster Griff nach hinten. Falls 'warum 14?': weil die Spannweite innerhalb EINES Modells von -0.044 bis +0.146 reicht.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aber wahrscheinlich gebraucht: ein Mathe-Publikum rechnet 12x5x3x14 im Kopf und kommt auf 2520.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Das ist der Ehrlichkeitsanker: die Rangfolge aus Folie 12 ist deskriptiv, und hier steht warum.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Zeigt den Adaptivitäts-Lag Methode für Methode.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C0F"/>
        </a:solidFill>
      </p:bgPr>
    </p:bg>
    <p:spTree>
      <p:nvGrpSpPr>
        <p:cNvPr id="1" name=""/>
        <p:cNvGrpSpPr/>
        <p:nvPr/>
      </p:nvGrpSpPr>
      <p:grpSpPr>
        <a:xfrm>
          <a:off x="0" y="0"/>
          <a:ext cx="0" cy="0"/>
          <a:chOff x="0" y="0"/>
          <a:chExt cx="0" cy="0"/>
        </a:xfrm>
      </p:grpSpPr>
      <p:sp>
        <p:nvSpPr>
          <p:cNvPr id="2" name="Text 0"/>
          <p:cNvSpPr/>
          <p:nvPr/>
        </p:nvSpPr>
        <p:spPr>
          <a:xfrm>
            <a:off x="685800" y="2057400"/>
            <a:ext cx="10820095" cy="1371600"/>
          </a:xfrm>
          <a:prstGeom prst="rect">
            <a:avLst/>
          </a:prstGeom>
          <a:noFill/>
          <a:ln/>
        </p:spPr>
        <p:txBody>
          <a:bodyPr wrap="square" lIns="0" tIns="0" rIns="0" bIns="0" rtlCol="0" anchor="ctr"/>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Conformal Prediction Intervals</a:t>
            </a:r>
            <a:endParaRPr lang="en-US" sz="3800" dirty="0"/>
          </a:p>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for Sovereign Credit Spreads</a:t>
            </a:r>
            <a:endParaRPr lang="en-US" sz="3800" dirty="0"/>
          </a:p>
        </p:txBody>
      </p:sp>
      <p:sp>
        <p:nvSpPr>
          <p:cNvPr id="3" name="Text 1"/>
          <p:cNvSpPr/>
          <p:nvPr/>
        </p:nvSpPr>
        <p:spPr>
          <a:xfrm>
            <a:off x="685800" y="3520440"/>
            <a:ext cx="10820095" cy="320040"/>
          </a:xfrm>
          <a:prstGeom prst="rect">
            <a:avLst/>
          </a:prstGeom>
          <a:noFill/>
          <a:ln/>
        </p:spPr>
        <p:txBody>
          <a:bodyPr wrap="square" lIns="0" tIns="0" rIns="0" bIns="0" rtlCol="0" anchor="ctr"/>
          <a:lstStyle/>
          <a:p>
            <a:pPr indent="0" marL="0">
              <a:buNone/>
            </a:pPr>
            <a:r>
              <a:rPr lang="en-US" sz="1700" dirty="0">
                <a:solidFill>
                  <a:srgbClr val="58C4DD"/>
                </a:solidFill>
                <a:latin typeface="Cambria" pitchFamily="34" charset="0"/>
                <a:ea typeface="Cambria" pitchFamily="34" charset="-122"/>
                <a:cs typeface="Cambria" pitchFamily="34" charset="-120"/>
              </a:rPr>
              <a:t>An xLSTM and foundation-model study</a:t>
            </a:r>
            <a:endParaRPr lang="en-US" sz="1700" dirty="0"/>
          </a:p>
        </p:txBody>
      </p:sp>
      <p:sp>
        <p:nvSpPr>
          <p:cNvPr id="4" name="Shape 2"/>
          <p:cNvSpPr/>
          <p:nvPr/>
        </p:nvSpPr>
        <p:spPr>
          <a:xfrm>
            <a:off x="685800" y="4114800"/>
            <a:ext cx="2926080" cy="0"/>
          </a:xfrm>
          <a:prstGeom prst="line">
            <a:avLst/>
          </a:prstGeom>
          <a:noFill/>
          <a:ln w="12700">
            <a:solidFill>
              <a:srgbClr val="2E323A"/>
            </a:solidFill>
            <a:prstDash val="solid"/>
          </a:ln>
        </p:spPr>
      </p:sp>
      <p:sp>
        <p:nvSpPr>
          <p:cNvPr id="5" name="Text 3"/>
          <p:cNvSpPr/>
          <p:nvPr/>
        </p:nvSpPr>
        <p:spPr>
          <a:xfrm>
            <a:off x="685800" y="4343400"/>
            <a:ext cx="10820095" cy="274320"/>
          </a:xfrm>
          <a:prstGeom prst="rect">
            <a:avLst/>
          </a:prstGeom>
          <a:noFill/>
          <a:ln/>
        </p:spPr>
        <p:txBody>
          <a:bodyPr wrap="square" lIns="0" tIns="0" rIns="0" bIns="0" rtlCol="0" anchor="ctr"/>
          <a:lstStyle/>
          <a:p>
            <a:pPr indent="0" marL="0">
              <a:buNone/>
            </a:pPr>
            <a:r>
              <a:rPr lang="en-US" sz="1300" dirty="0">
                <a:solidFill>
                  <a:srgbClr val="C8C8C8"/>
                </a:solidFill>
                <a:latin typeface="Cambria" pitchFamily="34" charset="0"/>
                <a:ea typeface="Cambria" pitchFamily="34" charset="-122"/>
                <a:cs typeface="Cambria" pitchFamily="34" charset="-120"/>
              </a:rPr>
              <a:t>Felix Neuwirth   ·   TU Wien, MSc Financial &amp; Insurance Mathematics</a:t>
            </a:r>
            <a:endParaRPr lang="en-US" sz="1300" dirty="0"/>
          </a:p>
        </p:txBody>
      </p:sp>
      <p:sp>
        <p:nvSpPr>
          <p:cNvPr id="6" name="Text 4"/>
          <p:cNvSpPr/>
          <p:nvPr/>
        </p:nvSpPr>
        <p:spPr>
          <a:xfrm>
            <a:off x="685800" y="4663440"/>
            <a:ext cx="10820095" cy="274320"/>
          </a:xfrm>
          <a:prstGeom prst="rect">
            <a:avLst/>
          </a:prstGeom>
          <a:noFill/>
          <a:ln/>
        </p:spPr>
        <p:txBody>
          <a:bodyPr wrap="square" lIns="0" tIns="0" rIns="0" bIns="0" rtlCol="0" anchor="ctr"/>
          <a:lstStyle/>
          <a:p>
            <a:pPr indent="0" marL="0">
              <a:buNone/>
            </a:pPr>
            <a:r>
              <a:rPr lang="en-US" sz="1050" dirty="0">
                <a:solidFill>
                  <a:srgbClr val="7A7F87"/>
                </a:solidFill>
                <a:latin typeface="Consolas" pitchFamily="34" charset="0"/>
                <a:ea typeface="Consolas" pitchFamily="34" charset="-122"/>
                <a:cs typeface="Consolas" pitchFamily="34" charset="-120"/>
              </a:rPr>
              <a:t>Supervisor: Prof. Stefan Gerhold   ·   Erste Group, Risk Management   ·   August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C0F"/>
        </a:solidFill>
      </p:bgPr>
    </p:bg>
    <p:spTree>
      <p:nvGrpSpPr>
        <p:cNvPr id="1" name=""/>
        <p:cNvGrpSpPr/>
        <p:nvPr/>
      </p:nvGrpSpPr>
      <p:grpSpPr>
        <a:xfrm>
          <a:off x="0" y="0"/>
          <a:ext cx="0" cy="0"/>
          <a:chOff x="0" y="0"/>
          <a:chExt cx="0" cy="0"/>
        </a:xfrm>
      </p:grpSpPr>
      <p:sp>
        <p:nvSpPr>
          <p:cNvPr id="2" name="Text 0"/>
          <p:cNvSpPr/>
          <p:nvPr/>
        </p:nvSpPr>
        <p:spPr>
          <a:xfrm>
            <a:off x="685800" y="365760"/>
            <a:ext cx="10820095" cy="5029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Objective and research questions</a:t>
            </a:r>
            <a:endParaRPr lang="en-US" sz="2700" dirty="0"/>
          </a:p>
        </p:txBody>
      </p:sp>
      <p:sp>
        <p:nvSpPr>
          <p:cNvPr id="3" name="Text 1"/>
          <p:cNvSpPr/>
          <p:nvPr/>
        </p:nvSpPr>
        <p:spPr>
          <a:xfrm>
            <a:off x="685800" y="1325880"/>
            <a:ext cx="10820095" cy="566928"/>
          </a:xfrm>
          <a:prstGeom prst="rect">
            <a:avLst/>
          </a:prstGeom>
          <a:noFill/>
          <a:ln/>
        </p:spPr>
        <p:txBody>
          <a:bodyPr wrap="square" lIns="0" tIns="0" rIns="0" bIns="0" rtlCol="0" anchor="t"/>
          <a:lstStyle/>
          <a:p>
            <a:pPr indent="0" marL="0">
              <a:buNone/>
            </a:pPr>
            <a:r>
              <a:rPr lang="en-US" sz="1400" dirty="0">
                <a:solidFill>
                  <a:srgbClr val="FFFFFF"/>
                </a:solidFill>
                <a:latin typeface="Cambria" pitchFamily="34" charset="0"/>
                <a:ea typeface="Cambria" pitchFamily="34" charset="-122"/>
                <a:cs typeface="Cambria" pitchFamily="34" charset="-120"/>
              </a:rPr>
              <a:t>Produce interval forecasts for the one-month-ahead change in euro-area sovereign spreads, establish which model–calibration combinations are statistically valid, and rank the valid ones by interval quality.</a:t>
            </a:r>
            <a:endParaRPr lang="en-US" sz="1400" dirty="0"/>
          </a:p>
        </p:txBody>
      </p:sp>
      <p:sp>
        <p:nvSpPr>
          <p:cNvPr id="4" name="Text 2"/>
          <p:cNvSpPr/>
          <p:nvPr/>
        </p:nvSpPr>
        <p:spPr>
          <a:xfrm>
            <a:off x="685800" y="2057400"/>
            <a:ext cx="10820095"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PRE-REGISTERED</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85800" y="2331720"/>
          <a:ext cx="10820095" cy="914400"/>
        </p:xfrm>
        <a:graphic>
          <a:graphicData uri="http://schemas.openxmlformats.org/drawingml/2006/table">
            <a:tbl>
              <a:tblPr/>
              <a:tblGrid>
                <a:gridCol w="640080"/>
                <a:gridCol w="5852160"/>
                <a:gridCol w="3200400"/>
                <a:gridCol w="1124712"/>
              </a:tblGrid>
              <a:tr h="365760">
                <a:tc>
                  <a:txBody>
                    <a:bodyPr/>
                    <a:lstStyle/>
                    <a:p>
                      <a:pPr algn="l" indent="0" marL="0">
                        <a:buNone/>
                      </a:pP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Question</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Contrast</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n</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365760">
                <a:tc>
                  <a:txBody>
                    <a:bodyPr/>
                    <a:lstStyle/>
                    <a:p>
                      <a:pPr algn="l" indent="0" marL="0">
                        <a:buNone/>
                      </a:pPr>
                      <a:r>
                        <a:rPr lang="en-US" sz="900" b="1" dirty="0">
                          <a:solidFill>
                            <a:srgbClr val="58C4DD"/>
                          </a:solidFill>
                          <a:latin typeface="Consolas" pitchFamily="34" charset="0"/>
                          <a:ea typeface="Consolas" pitchFamily="34" charset="-122"/>
                          <a:cs typeface="Consolas" pitchFamily="34" charset="-120"/>
                        </a:rPr>
                        <a:t>RQ1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Does one global model beat one model per country, and does fine-tuning close the gap?</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7A7F87"/>
                          </a:solidFill>
                          <a:latin typeface="Consolas" pitchFamily="34" charset="0"/>
                          <a:ea typeface="Consolas" pitchFamily="34" charset="-122"/>
                          <a:cs typeface="Consolas" pitchFamily="34" charset="-120"/>
                        </a:rPr>
                        <a:t>G vs L, GF vs G, GF vs GI</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266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65760">
                <a:tc>
                  <a:txBody>
                    <a:bodyPr/>
                    <a:lstStyle/>
                    <a:p>
                      <a:pPr algn="l" indent="0" marL="0">
                        <a:buNone/>
                      </a:pPr>
                      <a:r>
                        <a:rPr lang="en-US" sz="900" b="1" dirty="0">
                          <a:solidFill>
                            <a:srgbClr val="58C4DD"/>
                          </a:solidFill>
                          <a:latin typeface="Consolas" pitchFamily="34" charset="0"/>
                          <a:ea typeface="Consolas" pitchFamily="34" charset="-122"/>
                          <a:cs typeface="Consolas" pitchFamily="34" charset="-120"/>
                        </a:rPr>
                        <a:t>RQ2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Does a model-generated time-varying interval width beat a constant-width twin?</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7A7F87"/>
                          </a:solidFill>
                          <a:latin typeface="Consolas" pitchFamily="34" charset="0"/>
                          <a:ea typeface="Consolas" pitchFamily="34" charset="-122"/>
                          <a:cs typeface="Consolas" pitchFamily="34" charset="-120"/>
                        </a:rPr>
                        <a:t>adaptive vs const-width twin</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280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65760">
                <a:tc>
                  <a:txBody>
                    <a:bodyPr/>
                    <a:lstStyle/>
                    <a:p>
                      <a:pPr algn="l" indent="0" marL="0">
                        <a:buNone/>
                      </a:pPr>
                      <a:r>
                        <a:rPr lang="en-US" sz="900" b="1" dirty="0">
                          <a:solidFill>
                            <a:srgbClr val="58C4DD"/>
                          </a:solidFill>
                          <a:latin typeface="Consolas" pitchFamily="34" charset="0"/>
                          <a:ea typeface="Consolas" pitchFamily="34" charset="-122"/>
                          <a:cs typeface="Consolas" pitchFamily="34" charset="-120"/>
                        </a:rPr>
                        <a:t>RQ3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Does the conformal layer improve on the model's own quantile output?</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7A7F87"/>
                          </a:solidFill>
                          <a:latin typeface="Consolas" pitchFamily="34" charset="0"/>
                          <a:ea typeface="Consolas" pitchFamily="34" charset="-122"/>
                          <a:cs typeface="Consolas" pitchFamily="34" charset="-120"/>
                        </a:rPr>
                        <a:t>each method vs native</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689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6" name="Text 3"/>
          <p:cNvSpPr/>
          <p:nvPr/>
        </p:nvSpPr>
        <p:spPr>
          <a:xfrm>
            <a:off x="685800" y="3977640"/>
            <a:ext cx="10820095"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ADDED POST HOC, DECLARED AS SUCH</a:t>
            </a:r>
            <a:endParaRPr lang="en-US" sz="100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85800" y="4251960"/>
          <a:ext cx="10820095" cy="914400"/>
        </p:xfrm>
        <a:graphic>
          <a:graphicData uri="http://schemas.openxmlformats.org/drawingml/2006/table">
            <a:tbl>
              <a:tblPr/>
              <a:tblGrid>
                <a:gridCol w="640080"/>
                <a:gridCol w="5852160"/>
                <a:gridCol w="3200400"/>
                <a:gridCol w="1124712"/>
              </a:tblGrid>
              <a:tr h="365760">
                <a:tc>
                  <a:txBody>
                    <a:bodyPr/>
                    <a:lstStyle/>
                    <a:p>
                      <a:pPr algn="l" indent="0" marL="0">
                        <a:buNone/>
                      </a:pP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Question</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Design</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n</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365760">
                <a:tc>
                  <a:txBody>
                    <a:bodyPr/>
                    <a:lstStyle/>
                    <a:p>
                      <a:pPr algn="l" indent="0" marL="0">
                        <a:buNone/>
                      </a:pPr>
                      <a:r>
                        <a:rPr lang="en-US" sz="900" b="1" dirty="0">
                          <a:solidFill>
                            <a:srgbClr val="58C4DD"/>
                          </a:solidFill>
                          <a:latin typeface="Consolas" pitchFamily="34" charset="0"/>
                          <a:ea typeface="Consolas" pitchFamily="34" charset="-122"/>
                          <a:cs typeface="Consolas" pitchFamily="34" charset="-120"/>
                        </a:rPr>
                        <a:t>Q4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Do 17 macro covariates add anything over the spread's own history?</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7A7F87"/>
                          </a:solidFill>
                          <a:latin typeface="Consolas" pitchFamily="34" charset="0"/>
                          <a:ea typeface="Consolas" pitchFamily="34" charset="-122"/>
                          <a:cs typeface="Consolas" pitchFamily="34" charset="-120"/>
                        </a:rPr>
                        <a:t>same model, same window, covariates on/off</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140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65760">
                <a:tc>
                  <a:txBody>
                    <a:bodyPr/>
                    <a:lstStyle/>
                    <a:p>
                      <a:pPr algn="l" indent="0" marL="0">
                        <a:buNone/>
                      </a:pPr>
                      <a:r>
                        <a:rPr lang="en-US" sz="900" b="1" dirty="0">
                          <a:solidFill>
                            <a:srgbClr val="58C4DD"/>
                          </a:solidFill>
                          <a:latin typeface="Consolas" pitchFamily="34" charset="0"/>
                          <a:ea typeface="Consolas" pitchFamily="34" charset="-122"/>
                          <a:cs typeface="Consolas" pitchFamily="34" charset="-120"/>
                        </a:rPr>
                        <a:t>Q5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Does the ranking survive market stress?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7A7F87"/>
                          </a:solidFill>
                          <a:latin typeface="Consolas" pitchFamily="34" charset="0"/>
                          <a:ea typeface="Consolas" pitchFamily="34" charset="-122"/>
                          <a:cs typeface="Consolas" pitchFamily="34" charset="-120"/>
                        </a:rPr>
                        <a:t>realised-volatility terciles and VIX threshold</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8" name="Text 4"/>
          <p:cNvSpPr/>
          <p:nvPr/>
        </p:nvSpPr>
        <p:spPr>
          <a:xfrm>
            <a:off x="685800" y="5577840"/>
            <a:ext cx="10820095" cy="457200"/>
          </a:xfrm>
          <a:prstGeom prst="rect">
            <a:avLst/>
          </a:prstGeom>
          <a:noFill/>
          <a:ln/>
        </p:spPr>
        <p:txBody>
          <a:bodyPr wrap="square" lIns="0" tIns="0" rIns="0" bIns="0" rtlCol="0" anchor="t"/>
          <a:lstStyle/>
          <a:p>
            <a:pPr indent="0" marL="0">
              <a:buNone/>
            </a:pPr>
            <a:r>
              <a:rPr lang="en-US" sz="1100" dirty="0">
                <a:solidFill>
                  <a:srgbClr val="7A7F87"/>
                </a:solidFill>
                <a:latin typeface="Cambria" pitchFamily="34" charset="0"/>
                <a:ea typeface="Cambria" pitchFamily="34" charset="-122"/>
                <a:cs typeface="Cambria" pitchFamily="34" charset="-120"/>
              </a:rPr>
              <a:t>All p-values are Benjamini–Hochberg adjusted within their own contrast family. Calibration is used as an admissibility gate, never as a ranking criterion.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C0F"/>
        </a:solidFill>
      </p:bgPr>
    </p:bg>
    <p:spTree>
      <p:nvGrpSpPr>
        <p:cNvPr id="1" name=""/>
        <p:cNvGrpSpPr/>
        <p:nvPr/>
      </p:nvGrpSpPr>
      <p:grpSpPr>
        <a:xfrm>
          <a:off x="0" y="0"/>
          <a:ext cx="0" cy="0"/>
          <a:chOff x="0" y="0"/>
          <a:chExt cx="0" cy="0"/>
        </a:xfrm>
      </p:grpSpPr>
      <p:sp>
        <p:nvSpPr>
          <p:cNvPr id="2" name="Text 0"/>
          <p:cNvSpPr/>
          <p:nvPr/>
        </p:nvSpPr>
        <p:spPr>
          <a:xfrm>
            <a:off x="685800" y="365760"/>
            <a:ext cx="10820095" cy="5029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Summary of findings</a:t>
            </a:r>
            <a:endParaRPr lang="en-US" sz="2700" dirty="0"/>
          </a:p>
        </p:txBody>
      </p:sp>
      <p:sp>
        <p:nvSpPr>
          <p:cNvPr id="3" name="Text 1"/>
          <p:cNvSpPr/>
          <p:nvPr/>
        </p:nvSpPr>
        <p:spPr>
          <a:xfrm>
            <a:off x="685800" y="896112"/>
            <a:ext cx="10820095" cy="256032"/>
          </a:xfrm>
          <a:prstGeom prst="rect">
            <a:avLst/>
          </a:prstGeom>
          <a:noFill/>
          <a:ln/>
        </p:spPr>
        <p:txBody>
          <a:bodyPr wrap="square" lIns="0" tIns="0" rIns="0" bIns="0" rtlCol="0" anchor="ctr"/>
          <a:lstStyle/>
          <a:p>
            <a:pPr indent="0" marL="0">
              <a:buNone/>
            </a:pPr>
            <a:r>
              <a:rPr lang="en-US" sz="1050" dirty="0">
                <a:solidFill>
                  <a:srgbClr val="7A7F87"/>
                </a:solidFill>
                <a:latin typeface="Consolas" pitchFamily="34" charset="0"/>
                <a:ea typeface="Consolas" pitchFamily="34" charset="-122"/>
                <a:cs typeface="Consolas" pitchFamily="34" charset="-120"/>
              </a:rPr>
              <a:t>each line is developed later in the talk</a:t>
            </a:r>
            <a:endParaRPr lang="en-US" sz="10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85800" y="1298448"/>
          <a:ext cx="10820095" cy="914400"/>
        </p:xfrm>
        <a:graphic>
          <a:graphicData uri="http://schemas.openxmlformats.org/drawingml/2006/table">
            <a:tbl>
              <a:tblPr/>
              <a:tblGrid>
                <a:gridCol w="457200"/>
                <a:gridCol w="6766560"/>
                <a:gridCol w="2770632"/>
                <a:gridCol w="822960"/>
              </a:tblGrid>
              <a:tr h="393192">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Finding</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Key figure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Slide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393192">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No model beats the random walk on the point forecast</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FFFFF"/>
                          </a:solidFill>
                          <a:latin typeface="Consolas" pitchFamily="34" charset="0"/>
                          <a:ea typeface="Consolas" pitchFamily="34" charset="-122"/>
                          <a:cs typeface="Consolas" pitchFamily="34" charset="-120"/>
                        </a:rPr>
                        <a:t>MAE ratio 0.997 (best)</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93192">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Raw model quantiles are systematically too wide and rarely valid</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FFFFF"/>
                          </a:solidFill>
                          <a:latin typeface="Consolas" pitchFamily="34" charset="0"/>
                          <a:ea typeface="Consolas" pitchFamily="34" charset="-122"/>
                          <a:cs typeface="Consolas" pitchFamily="34" charset="-120"/>
                        </a:rPr>
                        <a:t>coverage 0.872, gate 13.2 %</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93192">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Best interval package is a zero-shot foundation model</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FFFFF"/>
                          </a:solidFill>
                          <a:latin typeface="Consolas" pitchFamily="34" charset="0"/>
                          <a:ea typeface="Consolas" pitchFamily="34" charset="-122"/>
                          <a:cs typeface="Consolas" pitchFamily="34" charset="-120"/>
                        </a:rPr>
                        <a:t>Winkler skill 0.146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93192">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The namesake xLSTM is the weakest of twelve families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FFFFF"/>
                          </a:solidFill>
                          <a:latin typeface="Consolas" pitchFamily="34" charset="0"/>
                          <a:ea typeface="Consolas" pitchFamily="34" charset="-122"/>
                          <a:cs typeface="Consolas" pitchFamily="34" charset="-120"/>
                        </a:rPr>
                        <a:t>median skill −0.047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93192">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The Winkler score is dominated by width, not by violations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FFFFF"/>
                          </a:solidFill>
                          <a:latin typeface="Consolas" pitchFamily="34" charset="0"/>
                          <a:ea typeface="Consolas" pitchFamily="34" charset="-122"/>
                          <a:cs typeface="Consolas" pitchFamily="34" charset="-120"/>
                        </a:rPr>
                        <a:t>width = 72.8 % of score</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93192">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Global pooling does not help the neural models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FFFFF"/>
                          </a:solidFill>
                          <a:latin typeface="Consolas" pitchFamily="34" charset="0"/>
                          <a:ea typeface="Consolas" pitchFamily="34" charset="-122"/>
                          <a:cs typeface="Consolas" pitchFamily="34" charset="-120"/>
                        </a:rPr>
                        <a:t>d = +0.017 in favour of local</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93192">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Model-side width adaptivity does not pay; the CP layer's does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FFFFF"/>
                          </a:solidFill>
                          <a:latin typeface="Consolas" pitchFamily="34" charset="0"/>
                          <a:ea typeface="Consolas" pitchFamily="34" charset="-122"/>
                          <a:cs typeface="Consolas" pitchFamily="34" charset="-120"/>
                        </a:rPr>
                        <a:t>+0.020 vs −0.054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93192">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17 macro covariates add nothing measurable at h = 1 month</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FFFFF"/>
                          </a:solidFill>
                          <a:latin typeface="Consolas" pitchFamily="34" charset="0"/>
                          <a:ea typeface="Consolas" pitchFamily="34" charset="-122"/>
                          <a:cs typeface="Consolas" pitchFamily="34" charset="-120"/>
                        </a:rPr>
                        <a:t>median skill Δ +0.0036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93192">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Sharper valid intervals lower the capital proxy, not trading P&amp;L</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FFFFF"/>
                          </a:solidFill>
                          <a:latin typeface="Consolas" pitchFamily="34" charset="0"/>
                          <a:ea typeface="Consolas" pitchFamily="34" charset="-122"/>
                          <a:cs typeface="Consolas" pitchFamily="34" charset="-120"/>
                        </a:rPr>
                        <a:t>corr −0.711 vs −0.147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93192">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The ranking survives persistent stress but not its onset</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FFFFF"/>
                          </a:solidFill>
                          <a:latin typeface="Consolas" pitchFamily="34" charset="0"/>
                          <a:ea typeface="Consolas" pitchFamily="34" charset="-122"/>
                          <a:cs typeface="Consolas" pitchFamily="34" charset="-120"/>
                        </a:rPr>
                        <a:t>Spearman +0.846 vs +0.399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93192">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No pairwise model comparison survives multiplicity correction</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FFFFF"/>
                          </a:solidFill>
                          <a:latin typeface="Consolas" pitchFamily="34" charset="0"/>
                          <a:ea typeface="Consolas" pitchFamily="34" charset="-122"/>
                          <a:cs typeface="Consolas" pitchFamily="34" charset="-120"/>
                        </a:rPr>
                        <a:t>0 of 66, smallest q 0.185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20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C0F"/>
        </a:solidFill>
      </p:bgPr>
    </p:bg>
    <p:spTree>
      <p:nvGrpSpPr>
        <p:cNvPr id="1" name=""/>
        <p:cNvGrpSpPr/>
        <p:nvPr/>
      </p:nvGrpSpPr>
      <p:grpSpPr>
        <a:xfrm>
          <a:off x="0" y="0"/>
          <a:ext cx="0" cy="0"/>
          <a:chOff x="0" y="0"/>
          <a:chExt cx="0" cy="0"/>
        </a:xfrm>
      </p:grpSpPr>
      <p:sp>
        <p:nvSpPr>
          <p:cNvPr id="2" name="Text 0"/>
          <p:cNvSpPr/>
          <p:nvPr/>
        </p:nvSpPr>
        <p:spPr>
          <a:xfrm>
            <a:off x="685800" y="365760"/>
            <a:ext cx="10820095" cy="5029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Data and target</a:t>
            </a:r>
            <a:endParaRPr lang="en-US" sz="2700" dirty="0"/>
          </a:p>
        </p:txBody>
      </p:sp>
      <p:sp>
        <p:nvSpPr>
          <p:cNvPr id="3" name="Text 1"/>
          <p:cNvSpPr/>
          <p:nvPr/>
        </p:nvSpPr>
        <p:spPr>
          <a:xfrm>
            <a:off x="685800" y="1280160"/>
            <a:ext cx="5394960"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TARGET</a:t>
            </a:r>
            <a:endParaRPr lang="en-US" sz="1000" dirty="0"/>
          </a:p>
        </p:txBody>
      </p:sp>
      <p:sp>
        <p:nvSpPr>
          <p:cNvPr id="4" name="Text 2"/>
          <p:cNvSpPr/>
          <p:nvPr/>
        </p:nvSpPr>
        <p:spPr>
          <a:xfrm>
            <a:off x="685800" y="1536192"/>
            <a:ext cx="5394960" cy="457200"/>
          </a:xfrm>
          <a:prstGeom prst="rect">
            <a:avLst/>
          </a:prstGeom>
          <a:noFill/>
          <a:ln/>
        </p:spPr>
        <p:txBody>
          <a:bodyPr wrap="square" lIns="0" tIns="0" rIns="0" bIns="0" rtlCol="0" anchor="ctr"/>
          <a:lstStyle/>
          <a:p>
            <a:pPr indent="0" marL="0">
              <a:buNone/>
            </a:pPr>
            <a:r>
              <a:rPr lang="en-US" sz="1500" i="1" dirty="0">
                <a:solidFill>
                  <a:srgbClr val="FFFFFF"/>
                </a:solidFill>
                <a:latin typeface="Cambria" pitchFamily="34" charset="0"/>
                <a:ea typeface="Cambria" pitchFamily="34" charset="-122"/>
                <a:cs typeface="Cambria" pitchFamily="34" charset="-120"/>
              </a:rPr>
              <a:t>Δs</a:t>
            </a:r>
            <a:pPr indent="0" marL="0">
              <a:buNone/>
            </a:pPr>
            <a:r>
              <a:rPr lang="en-US" sz="1000" dirty="0">
                <a:solidFill>
                  <a:srgbClr val="FFFFFF"/>
                </a:solidFill>
                <a:latin typeface="Cambria" pitchFamily="34" charset="0"/>
                <a:ea typeface="Cambria" pitchFamily="34" charset="-122"/>
                <a:cs typeface="Cambria" pitchFamily="34" charset="-120"/>
              </a:rPr>
              <a:t>i,t</a:t>
            </a:r>
            <a:pPr indent="0" marL="0">
              <a:buNone/>
            </a:pPr>
            <a:r>
              <a:rPr lang="en-US" sz="1500" i="1" dirty="0">
                <a:solidFill>
                  <a:srgbClr val="FFFFFF"/>
                </a:solidFill>
                <a:latin typeface="Cambria" pitchFamily="34" charset="0"/>
                <a:ea typeface="Cambria" pitchFamily="34" charset="-122"/>
                <a:cs typeface="Cambria" pitchFamily="34" charset="-120"/>
              </a:rPr>
              <a:t>  =  s</a:t>
            </a:r>
            <a:pPr indent="0" marL="0">
              <a:buNone/>
            </a:pPr>
            <a:r>
              <a:rPr lang="en-US" sz="1000" dirty="0">
                <a:solidFill>
                  <a:srgbClr val="FFFFFF"/>
                </a:solidFill>
                <a:latin typeface="Cambria" pitchFamily="34" charset="0"/>
                <a:ea typeface="Cambria" pitchFamily="34" charset="-122"/>
                <a:cs typeface="Cambria" pitchFamily="34" charset="-120"/>
              </a:rPr>
              <a:t>i,t</a:t>
            </a:r>
            <a:pPr indent="0" marL="0">
              <a:buNone/>
            </a:pPr>
            <a:r>
              <a:rPr lang="en-US" sz="1500" i="1" dirty="0">
                <a:solidFill>
                  <a:srgbClr val="FFFFFF"/>
                </a:solidFill>
                <a:latin typeface="Cambria" pitchFamily="34" charset="0"/>
                <a:ea typeface="Cambria" pitchFamily="34" charset="-122"/>
                <a:cs typeface="Cambria" pitchFamily="34" charset="-120"/>
              </a:rPr>
              <a:t>  −  s</a:t>
            </a:r>
            <a:pPr indent="0" marL="0">
              <a:buNone/>
            </a:pPr>
            <a:r>
              <a:rPr lang="en-US" sz="1000" dirty="0">
                <a:solidFill>
                  <a:srgbClr val="FFFFFF"/>
                </a:solidFill>
                <a:latin typeface="Cambria" pitchFamily="34" charset="0"/>
                <a:ea typeface="Cambria" pitchFamily="34" charset="-122"/>
                <a:cs typeface="Cambria" pitchFamily="34" charset="-120"/>
              </a:rPr>
              <a:t>i,t−1</a:t>
            </a:r>
            <a:pPr indent="0" marL="0">
              <a:buNone/>
            </a:pPr>
            <a:r>
              <a:rPr lang="en-US" sz="1150" dirty="0">
                <a:solidFill>
                  <a:srgbClr val="7A7F87"/>
                </a:solidFill>
                <a:latin typeface="Cambria" pitchFamily="34" charset="0"/>
                <a:ea typeface="Cambria" pitchFamily="34" charset="-122"/>
                <a:cs typeface="Cambria" pitchFamily="34" charset="-120"/>
              </a:rPr>
              <a:t>        forecasts re-anchored to levels before evaluation</a:t>
            </a:r>
            <a:endParaRPr lang="en-US" sz="1500" dirty="0"/>
          </a:p>
        </p:txBody>
      </p:sp>
      <p:sp>
        <p:nvSpPr>
          <p:cNvPr id="5" name="Text 3"/>
          <p:cNvSpPr/>
          <p:nvPr/>
        </p:nvSpPr>
        <p:spPr>
          <a:xfrm>
            <a:off x="685800" y="2084832"/>
            <a:ext cx="5394960" cy="685800"/>
          </a:xfrm>
          <a:prstGeom prst="rect">
            <a:avLst/>
          </a:prstGeom>
          <a:noFill/>
          <a:ln/>
        </p:spPr>
        <p:txBody>
          <a:bodyPr wrap="square" lIns="0" tIns="0" rIns="0" bIns="0" rtlCol="0" anchor="ctr"/>
          <a:lstStyle/>
          <a:p>
            <a:pPr indent="0" marL="0">
              <a:buNone/>
            </a:pPr>
            <a:r>
              <a:rPr lang="en-US" sz="1150" dirty="0">
                <a:solidFill>
                  <a:srgbClr val="C8C8C8"/>
                </a:solidFill>
                <a:latin typeface="Cambria" pitchFamily="34" charset="0"/>
                <a:ea typeface="Cambria" pitchFamily="34" charset="-122"/>
                <a:cs typeface="Cambria" pitchFamily="34" charset="-120"/>
              </a:rPr>
              <a:t>s = ECB 10y sovereign yield of the country minus Germany. Modelled in differences because the level is highly persistent; evaluated in levels so the reported accuracy is not inflated by that persistence.</a:t>
            </a:r>
            <a:endParaRPr lang="en-US" sz="1150" dirty="0"/>
          </a:p>
        </p:txBody>
      </p:sp>
      <p:sp>
        <p:nvSpPr>
          <p:cNvPr id="6" name="Text 4"/>
          <p:cNvSpPr/>
          <p:nvPr/>
        </p:nvSpPr>
        <p:spPr>
          <a:xfrm>
            <a:off x="685800" y="2743200"/>
            <a:ext cx="5394960"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PANEL</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85800" y="3017520"/>
          <a:ext cx="5394960" cy="914400"/>
        </p:xfrm>
        <a:graphic>
          <a:graphicData uri="http://schemas.openxmlformats.org/drawingml/2006/table">
            <a:tbl>
              <a:tblPr/>
              <a:tblGrid>
                <a:gridCol w="1691640"/>
                <a:gridCol w="3703320"/>
              </a:tblGrid>
              <a:tr h="265176">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Item</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Value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65176">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Countries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  (AT BE ES FI FR GR IE IT NL PT)</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Frequency</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monthly</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Sample</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2003-04 to 2026-04,  277 months</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Observations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 × 277  =  2 770 country-months</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Missing values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  (Greek spread 2015-07, outside the test set)</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Features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17 per country:  5 global, 12 local</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8" name="Text 5"/>
          <p:cNvSpPr/>
          <p:nvPr/>
        </p:nvSpPr>
        <p:spPr>
          <a:xfrm>
            <a:off x="6537960" y="1280160"/>
            <a:ext cx="4937760"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FORECAST SETUP</a:t>
            </a:r>
            <a:endParaRPr lang="en-US" sz="10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537960" y="1554480"/>
          <a:ext cx="4937760" cy="914400"/>
        </p:xfrm>
        <a:graphic>
          <a:graphicData uri="http://schemas.openxmlformats.org/drawingml/2006/table">
            <a:tbl>
              <a:tblPr/>
              <a:tblGrid>
                <a:gridCol w="1737360"/>
                <a:gridCol w="3200400"/>
              </a:tblGrid>
              <a:tr h="265176">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Item</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Value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65176">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Horizon</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h = 1 month</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Quantiles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0.1, 0.5, 0.9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Interval</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central 80 %,  α = 0.20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Point estimator</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the 0.5 quantile</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Test window</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2015-10 to 2026-04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Test months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127 per country</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10" name="Text 6"/>
          <p:cNvSpPr/>
          <p:nvPr/>
        </p:nvSpPr>
        <p:spPr>
          <a:xfrm>
            <a:off x="6537960" y="3566160"/>
            <a:ext cx="4937760" cy="1371600"/>
          </a:xfrm>
          <a:prstGeom prst="rect">
            <a:avLst/>
          </a:prstGeom>
          <a:noFill/>
          <a:ln/>
        </p:spPr>
        <p:txBody>
          <a:bodyPr wrap="square" lIns="0" tIns="0" rIns="0" bIns="0" rtlCol="0" anchor="t"/>
          <a:lstStyle/>
          <a:p>
            <a:pPr indent="0" marL="0">
              <a:buNone/>
            </a:pPr>
            <a:r>
              <a:rPr lang="en-US" sz="1150" b="1" dirty="0">
                <a:solidFill>
                  <a:srgbClr val="FFFFFF"/>
                </a:solidFill>
                <a:latin typeface="Cambria" pitchFamily="34" charset="0"/>
                <a:ea typeface="Cambria" pitchFamily="34" charset="-122"/>
                <a:cs typeface="Cambria" pitchFamily="34" charset="-120"/>
              </a:rPr>
              <a:t>Why the 0.1 / 0.9 pair.  </a:t>
            </a:r>
            <a:pPr indent="0" marL="0">
              <a:buNone/>
            </a:pPr>
            <a:r>
              <a:rPr lang="en-US" sz="1150" dirty="0">
                <a:solidFill>
                  <a:srgbClr val="C8C8C8"/>
                </a:solidFill>
                <a:latin typeface="Cambria" pitchFamily="34" charset="0"/>
                <a:ea typeface="Cambria" pitchFamily="34" charset="-122"/>
                <a:cs typeface="Cambria" pitchFamily="34" charset="-120"/>
              </a:rPr>
              <a:t>The two pre-trained models emit deciles only. 0.1 / 0.9 is therefore the widest pair every model in the comparison produces natively, so no model has to extrapolate and none is advantaged by the choice. It is a comparability constraint, not a risk-appetite statement.</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C0F"/>
        </a:solidFill>
      </p:bgPr>
    </p:bg>
    <p:spTree>
      <p:nvGrpSpPr>
        <p:cNvPr id="1" name=""/>
        <p:cNvGrpSpPr/>
        <p:nvPr/>
      </p:nvGrpSpPr>
      <p:grpSpPr>
        <a:xfrm>
          <a:off x="0" y="0"/>
          <a:ext cx="0" cy="0"/>
          <a:chOff x="0" y="0"/>
          <a:chExt cx="0" cy="0"/>
        </a:xfrm>
      </p:grpSpPr>
      <p:sp>
        <p:nvSpPr>
          <p:cNvPr id="2" name="Text 0"/>
          <p:cNvSpPr/>
          <p:nvPr/>
        </p:nvSpPr>
        <p:spPr>
          <a:xfrm>
            <a:off x="685800" y="365760"/>
            <a:ext cx="10820095" cy="5029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The 17 covariates and their publication lags</a:t>
            </a:r>
            <a:endParaRPr lang="en-US" sz="2700" dirty="0"/>
          </a:p>
        </p:txBody>
      </p:sp>
      <p:sp>
        <p:nvSpPr>
          <p:cNvPr id="3" name="Text 1"/>
          <p:cNvSpPr/>
          <p:nvPr/>
        </p:nvSpPr>
        <p:spPr>
          <a:xfrm>
            <a:off x="685800" y="896112"/>
            <a:ext cx="10820095" cy="256032"/>
          </a:xfrm>
          <a:prstGeom prst="rect">
            <a:avLst/>
          </a:prstGeom>
          <a:noFill/>
          <a:ln/>
        </p:spPr>
        <p:txBody>
          <a:bodyPr wrap="square" lIns="0" tIns="0" rIns="0" bIns="0" rtlCol="0" anchor="ctr"/>
          <a:lstStyle/>
          <a:p>
            <a:pPr indent="0" marL="0">
              <a:buNone/>
            </a:pPr>
            <a:r>
              <a:rPr lang="en-US" sz="1050" dirty="0">
                <a:solidFill>
                  <a:srgbClr val="7A7F87"/>
                </a:solidFill>
                <a:latin typeface="Consolas" pitchFamily="34" charset="0"/>
                <a:ea typeface="Consolas" pitchFamily="34" charset="-122"/>
                <a:cs typeface="Consolas" pitchFamily="34" charset="-120"/>
              </a:rPr>
              <a:t>feature set from Afonso et al. (ECB WP 1781) plus four additions · local features enter as differentials vs. Germany</a:t>
            </a:r>
            <a:endParaRPr lang="en-US" sz="10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5800" y="1371600"/>
          <a:ext cx="5257800" cy="914400"/>
        </p:xfrm>
        <a:graphic>
          <a:graphicData uri="http://schemas.openxmlformats.org/drawingml/2006/table">
            <a:tbl>
              <a:tblPr/>
              <a:tblGrid>
                <a:gridCol w="365760"/>
                <a:gridCol w="2331720"/>
                <a:gridCol w="777240"/>
                <a:gridCol w="914400"/>
                <a:gridCol w="868680"/>
              </a:tblGrid>
              <a:tr h="251460">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Identifier</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Scope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Lag (d)</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Shift (m)</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51460">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spread_lag</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local</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51460">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vix_log</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global</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51460">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us_baa_aaa</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global</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51460">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us_aaa_treasury</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global</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51460">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epu_log</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global</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51460">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debt_gdp</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local</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113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51460">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debt_gdp_sq</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local</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113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51460">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vix_log_x_debt</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local</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split</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51460">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us_aaa_treasury_x_debt</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local</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split</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217920" y="1371600"/>
          <a:ext cx="5257800" cy="914400"/>
        </p:xfrm>
        <a:graphic>
          <a:graphicData uri="http://schemas.openxmlformats.org/drawingml/2006/table">
            <a:tbl>
              <a:tblPr/>
              <a:tblGrid>
                <a:gridCol w="365760"/>
                <a:gridCol w="2331720"/>
                <a:gridCol w="777240"/>
                <a:gridCol w="914400"/>
                <a:gridCol w="868680"/>
              </a:tblGrid>
              <a:tr h="251460">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Identifier</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Scope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Lag (d)</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Shift (m)</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51460">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fiscal_balance</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local</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113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51460">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debt_service_rev</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local</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113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51460">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ip_growth_yoy</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local</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45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51460">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reer_log</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local</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30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51460">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liquidity_share</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local</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113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51460">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target2_gdp</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local</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33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51460">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pc2_core_periph</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global</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51460">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rating_num</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local</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6" name="Text 2"/>
          <p:cNvSpPr/>
          <p:nvPr/>
        </p:nvSpPr>
        <p:spPr>
          <a:xfrm>
            <a:off x="685800" y="4114800"/>
            <a:ext cx="10820095"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WHY THE LAGS EXIST</a:t>
            </a:r>
            <a:endParaRPr lang="en-US" sz="1000" dirty="0"/>
          </a:p>
        </p:txBody>
      </p:sp>
      <p:graphicFrame>
        <p:nvGraphicFramePr>
          <p:cNvPr id="16" name="Table 2"/>
          <p:cNvGraphicFramePr>
            <a:graphicFrameLocks noGrp="1"/>
          </p:cNvGraphicFramePr>
          <p:nvPr>
            <p:extLst>
              <p:ext uri="{D42A27DB-BD31-4B8C-83A1-F6EECF244321}">
                <p14:modId xmlns:p14="http://schemas.microsoft.com/office/powerpoint/2010/main" val="1579011935"/>
              </p:ext>
            </p:extLst>
          </p:nvPr>
        </p:nvGraphicFramePr>
        <p:xfrm>
          <a:off x="685800" y="4389120"/>
          <a:ext cx="10820095" cy="914400"/>
        </p:xfrm>
        <a:graphic>
          <a:graphicData uri="http://schemas.openxmlformats.org/drawingml/2006/table">
            <a:tbl>
              <a:tblPr/>
              <a:tblGrid>
                <a:gridCol w="2194560"/>
                <a:gridCol w="8622792"/>
              </a:tblGrid>
              <a:tr h="301752">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Issue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Consequence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301752">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No vintage data available</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1000" dirty="0">
                          <a:solidFill>
                            <a:srgbClr val="C8C8C8"/>
                          </a:solidFill>
                          <a:latin typeface="Cambria" pitchFamily="34" charset="0"/>
                          <a:ea typeface="Cambria" pitchFamily="34" charset="-122"/>
                          <a:cs typeface="Cambria" pitchFamily="34" charset="-120"/>
                        </a:rPr>
                        <a:t>revised series are used; a revision carries information that did not exist at the reference date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01752">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Countermeasure</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1000" dirty="0">
                          <a:solidFill>
                            <a:srgbClr val="C8C8C8"/>
                          </a:solidFill>
                          <a:latin typeface="Cambria" pitchFamily="34" charset="0"/>
                          <a:ea typeface="Cambria" pitchFamily="34" charset="-122"/>
                          <a:cs typeface="Cambria" pitchFamily="34" charset="-120"/>
                        </a:rPr>
                        <a:t>each series is shifted forward k = ⌈lag / 30⌉ whole months, rounded up, on a month-end index</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01752">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Split lag</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1000" dirty="0">
                          <a:solidFill>
                            <a:srgbClr val="C8C8C8"/>
                          </a:solidFill>
                          <a:latin typeface="Cambria" pitchFamily="34" charset="0"/>
                          <a:ea typeface="Cambria" pitchFamily="34" charset="-122"/>
                          <a:cs typeface="Cambria" pitchFamily="34" charset="-120"/>
                        </a:rPr>
                        <a:t>target2_gdp = TARGET2(t−2) / GDP(t−4); interaction terms inherit the debt factor's 4-month lag</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01752">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Residual look-ahead</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1000" dirty="0">
                          <a:solidFill>
                            <a:srgbClr val="C8C8C8"/>
                          </a:solidFill>
                          <a:latin typeface="Cambria" pitchFamily="34" charset="0"/>
                          <a:ea typeface="Cambria" pitchFamily="34" charset="-122"/>
                          <a:cs typeface="Cambria" pitchFamily="34" charset="-120"/>
                        </a:rPr>
                        <a:t>monthly-average series (Moody's, EPU) appear ~5 days into the next month; rounds to a 0-month shift</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01752">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Cost</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1000" dirty="0">
                          <a:solidFill>
                            <a:srgbClr val="C8C8C8"/>
                          </a:solidFill>
                          <a:latin typeface="Cambria" pitchFamily="34" charset="0"/>
                          <a:ea typeface="Cambria" pitchFamily="34" charset="-122"/>
                          <a:cs typeface="Cambria" pitchFamily="34" charset="-120"/>
                        </a:rPr>
                        <a:t>up to ~29 days of over-lagging, so the models partly see stale data. Deliberate.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C0F"/>
        </a:solidFill>
      </p:bgPr>
    </p:bg>
    <p:spTree>
      <p:nvGrpSpPr>
        <p:cNvPr id="1" name=""/>
        <p:cNvGrpSpPr/>
        <p:nvPr/>
      </p:nvGrpSpPr>
      <p:grpSpPr>
        <a:xfrm>
          <a:off x="0" y="0"/>
          <a:ext cx="0" cy="0"/>
          <a:chOff x="0" y="0"/>
          <a:chExt cx="0" cy="0"/>
        </a:xfrm>
      </p:grpSpPr>
      <p:sp>
        <p:nvSpPr>
          <p:cNvPr id="2" name="Text 0"/>
          <p:cNvSpPr/>
          <p:nvPr/>
        </p:nvSpPr>
        <p:spPr>
          <a:xfrm>
            <a:off x="685800" y="365760"/>
            <a:ext cx="10820095" cy="5029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Twelve model variants under one protocol</a:t>
            </a:r>
            <a:endParaRPr lang="en-US" sz="27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85800" y="1234440"/>
          <a:ext cx="6858000" cy="914400"/>
        </p:xfrm>
        <a:graphic>
          <a:graphicData uri="http://schemas.openxmlformats.org/drawingml/2006/table">
            <a:tbl>
              <a:tblPr/>
              <a:tblGrid>
                <a:gridCol w="1234440"/>
                <a:gridCol w="3337560"/>
                <a:gridCol w="1234440"/>
                <a:gridCol w="548640"/>
                <a:gridCol w="502920"/>
              </a:tblGrid>
              <a:tr h="260604">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Variant</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Description</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Regimes</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Seeds</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Comb.</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60604">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rw</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C8C8C8"/>
                          </a:solidFill>
                          <a:latin typeface="Cambria" pitchFamily="34" charset="0"/>
                          <a:ea typeface="Cambria" pitchFamily="34" charset="-122"/>
                          <a:cs typeface="Cambria" pitchFamily="34" charset="-120"/>
                        </a:rPr>
                        <a:t>random walk; interval from empirical in-sample residual quantiles</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onsolas" pitchFamily="34" charset="0"/>
                          <a:ea typeface="Consolas" pitchFamily="34" charset="-122"/>
                          <a:cs typeface="Consolas" pitchFamily="34" charset="-120"/>
                        </a:rPr>
                        <a:t>L</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0604">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arma</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C8C8C8"/>
                          </a:solidFill>
                          <a:latin typeface="Cambria" pitchFamily="34" charset="0"/>
                          <a:ea typeface="Cambria" pitchFamily="34" charset="-122"/>
                          <a:cs typeface="Cambria" pitchFamily="34" charset="-120"/>
                        </a:rPr>
                        <a:t>ARMA(p,q) on the differenced target, order by AIC, trend suppressed</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onsolas" pitchFamily="34" charset="0"/>
                          <a:ea typeface="Consolas" pitchFamily="34" charset="-122"/>
                          <a:cs typeface="Consolas" pitchFamily="34" charset="-120"/>
                        </a:rPr>
                        <a:t>L</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0604">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arma_monthly</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C8C8C8"/>
                          </a:solidFill>
                          <a:latin typeface="Cambria" pitchFamily="34" charset="0"/>
                          <a:ea typeface="Cambria" pitchFamily="34" charset="-122"/>
                          <a:cs typeface="Cambria" pitchFamily="34" charset="-120"/>
                        </a:rPr>
                        <a:t>same, refitted monthly — refit-frequency control</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onsolas" pitchFamily="34" charset="0"/>
                          <a:ea typeface="Consolas" pitchFamily="34" charset="-122"/>
                          <a:cs typeface="Consolas" pitchFamily="34" charset="-120"/>
                        </a:rPr>
                        <a:t>L</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0604">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lgbm</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C8C8C8"/>
                          </a:solidFill>
                          <a:latin typeface="Cambria" pitchFamily="34" charset="0"/>
                          <a:ea typeface="Cambria" pitchFamily="34" charset="-122"/>
                          <a:cs typeface="Cambria" pitchFamily="34" charset="-120"/>
                        </a:rPr>
                        <a:t>LightGBM, one booster per quantile, ex-ante tabular lag structure</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onsolas" pitchFamily="34" charset="0"/>
                          <a:ea typeface="Consolas" pitchFamily="34" charset="-122"/>
                          <a:cs typeface="Consolas" pitchFamily="34" charset="-120"/>
                        </a:rPr>
                        <a:t>L, G, GI</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42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0604">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lgbm_const</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C8C8C8"/>
                          </a:solidFill>
                          <a:latin typeface="Cambria" pitchFamily="34" charset="0"/>
                          <a:ea typeface="Cambria" pitchFamily="34" charset="-122"/>
                          <a:cs typeface="Cambria" pitchFamily="34" charset="-120"/>
                        </a:rPr>
                        <a:t>constant-width twin of lgbm</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onsolas" pitchFamily="34" charset="0"/>
                          <a:ea typeface="Consolas" pitchFamily="34" charset="-122"/>
                          <a:cs typeface="Consolas" pitchFamily="34" charset="-120"/>
                        </a:rPr>
                        <a:t>L, G</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28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0604">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lstm</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C8C8C8"/>
                          </a:solidFill>
                          <a:latin typeface="Cambria" pitchFamily="34" charset="0"/>
                          <a:ea typeface="Cambria" pitchFamily="34" charset="-122"/>
                          <a:cs typeface="Cambria" pitchFamily="34" charset="-120"/>
                        </a:rPr>
                        <a:t>baseline LSTM, pinball loss on three quantiles</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onsolas" pitchFamily="34" charset="0"/>
                          <a:ea typeface="Consolas" pitchFamily="34" charset="-122"/>
                          <a:cs typeface="Consolas" pitchFamily="34" charset="-120"/>
                        </a:rPr>
                        <a:t>L, G, GF, GI</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168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0604">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lstm_const</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C8C8C8"/>
                          </a:solidFill>
                          <a:latin typeface="Cambria" pitchFamily="34" charset="0"/>
                          <a:ea typeface="Cambria" pitchFamily="34" charset="-122"/>
                          <a:cs typeface="Cambria" pitchFamily="34" charset="-120"/>
                        </a:rPr>
                        <a:t>constant-width twin of lstm</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onsolas" pitchFamily="34" charset="0"/>
                          <a:ea typeface="Consolas" pitchFamily="34" charset="-122"/>
                          <a:cs typeface="Consolas" pitchFamily="34" charset="-120"/>
                        </a:rPr>
                        <a:t>L, G, GF</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126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0604">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xlstm</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C8C8C8"/>
                          </a:solidFill>
                          <a:latin typeface="Cambria" pitchFamily="34" charset="0"/>
                          <a:ea typeface="Cambria" pitchFamily="34" charset="-122"/>
                          <a:cs typeface="Cambria" pitchFamily="34" charset="-120"/>
                        </a:rPr>
                        <a:t>extended LSTM, mLSTM + sLSTM blocks</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onsolas" pitchFamily="34" charset="0"/>
                          <a:ea typeface="Consolas" pitchFamily="34" charset="-122"/>
                          <a:cs typeface="Consolas" pitchFamily="34" charset="-120"/>
                        </a:rPr>
                        <a:t>L, G, GF, GI</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168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0604">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xlstm_const</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C8C8C8"/>
                          </a:solidFill>
                          <a:latin typeface="Cambria" pitchFamily="34" charset="0"/>
                          <a:ea typeface="Cambria" pitchFamily="34" charset="-122"/>
                          <a:cs typeface="Cambria" pitchFamily="34" charset="-120"/>
                        </a:rPr>
                        <a:t>constant-width twin of xlstm</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onsolas" pitchFamily="34" charset="0"/>
                          <a:ea typeface="Consolas" pitchFamily="34" charset="-122"/>
                          <a:cs typeface="Consolas" pitchFamily="34" charset="-120"/>
                        </a:rPr>
                        <a:t>L, G, GF</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126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0604">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tirex</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C8C8C8"/>
                          </a:solidFill>
                          <a:latin typeface="Cambria" pitchFamily="34" charset="0"/>
                          <a:ea typeface="Cambria" pitchFamily="34" charset="-122"/>
                          <a:cs typeface="Cambria" pitchFamily="34" charset="-120"/>
                        </a:rPr>
                        <a:t>pre-trained foundation model, used as released</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onsolas" pitchFamily="34" charset="0"/>
                          <a:ea typeface="Consolas" pitchFamily="34" charset="-122"/>
                          <a:cs typeface="Consolas" pitchFamily="34" charset="-120"/>
                        </a:rPr>
                        <a:t>ZS</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0604">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tirex2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C8C8C8"/>
                          </a:solidFill>
                          <a:latin typeface="Cambria" pitchFamily="34" charset="0"/>
                          <a:ea typeface="Cambria" pitchFamily="34" charset="-122"/>
                          <a:cs typeface="Cambria" pitchFamily="34" charset="-120"/>
                        </a:rPr>
                        <a:t>successor model, univariate</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onsolas" pitchFamily="34" charset="0"/>
                          <a:ea typeface="Consolas" pitchFamily="34" charset="-122"/>
                          <a:cs typeface="Consolas" pitchFamily="34" charset="-120"/>
                        </a:rPr>
                        <a:t>ZS</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0604">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tirex2_cov</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C8C8C8"/>
                          </a:solidFill>
                          <a:latin typeface="Cambria" pitchFamily="34" charset="0"/>
                          <a:ea typeface="Cambria" pitchFamily="34" charset="-122"/>
                          <a:cs typeface="Cambria" pitchFamily="34" charset="-120"/>
                        </a:rPr>
                        <a:t>same model with the 17 covariates as exogenous inputs</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onsolas" pitchFamily="34" charset="0"/>
                          <a:ea typeface="Consolas" pitchFamily="34" charset="-122"/>
                          <a:cs typeface="Consolas" pitchFamily="34" charset="-120"/>
                        </a:rPr>
                        <a:t>ZS</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0604">
                <a:tc>
                  <a:txBody>
                    <a:bodyPr/>
                    <a:lstStyle/>
                    <a:p>
                      <a:pPr algn="l" indent="0" marL="0">
                        <a:buNone/>
                      </a:pP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b="1" dirty="0">
                          <a:solidFill>
                            <a:srgbClr val="FFFFFF"/>
                          </a:solidFill>
                          <a:latin typeface="Cambria" pitchFamily="34" charset="0"/>
                          <a:ea typeface="Cambria" pitchFamily="34" charset="-122"/>
                          <a:cs typeface="Cambria" pitchFamily="34" charset="-120"/>
                        </a:rPr>
                        <a:t>total</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50" b="1" dirty="0">
                          <a:solidFill>
                            <a:srgbClr val="FFFFFF"/>
                          </a:solidFill>
                          <a:latin typeface="Consolas" pitchFamily="34" charset="0"/>
                          <a:ea typeface="Consolas" pitchFamily="34" charset="-122"/>
                          <a:cs typeface="Consolas" pitchFamily="34" charset="-120"/>
                        </a:rPr>
                        <a:t>742</a:t>
                      </a:r>
                      <a:endParaRPr lang="en-US" sz="9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4" name="Text 1"/>
          <p:cNvSpPr/>
          <p:nvPr/>
        </p:nvSpPr>
        <p:spPr>
          <a:xfrm>
            <a:off x="7909560" y="1234440"/>
            <a:ext cx="3611880"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REGIMES</a:t>
            </a:r>
            <a:endParaRPr lang="en-US" sz="10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7909560" y="1481328"/>
          <a:ext cx="3593592" cy="914400"/>
        </p:xfrm>
        <a:graphic>
          <a:graphicData uri="http://schemas.openxmlformats.org/drawingml/2006/table">
            <a:tbl>
              <a:tblPr/>
              <a:tblGrid>
                <a:gridCol w="594360"/>
                <a:gridCol w="2999232"/>
              </a:tblGrid>
              <a:tr h="265176">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Code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Meaning</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65176">
                <a:tc>
                  <a:txBody>
                    <a:bodyPr/>
                    <a:lstStyle/>
                    <a:p>
                      <a:pPr algn="l" indent="0" marL="0">
                        <a:buNone/>
                      </a:pPr>
                      <a:r>
                        <a:rPr lang="en-US" sz="900" dirty="0">
                          <a:solidFill>
                            <a:srgbClr val="58C4DD"/>
                          </a:solidFill>
                          <a:latin typeface="Consolas" pitchFamily="34" charset="0"/>
                          <a:ea typeface="Consolas" pitchFamily="34" charset="-122"/>
                          <a:cs typeface="Consolas" pitchFamily="34" charset="-120"/>
                        </a:rPr>
                        <a:t>L</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C8C8C8"/>
                          </a:solidFill>
                          <a:latin typeface="Cambria" pitchFamily="34" charset="0"/>
                          <a:ea typeface="Cambria" pitchFamily="34" charset="-122"/>
                          <a:cs typeface="Cambria" pitchFamily="34" charset="-120"/>
                        </a:rPr>
                        <a:t>one model per country</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00" dirty="0">
                          <a:solidFill>
                            <a:srgbClr val="58C4DD"/>
                          </a:solidFill>
                          <a:latin typeface="Consolas" pitchFamily="34" charset="0"/>
                          <a:ea typeface="Consolas" pitchFamily="34" charset="-122"/>
                          <a:cs typeface="Consolas" pitchFamily="34" charset="-120"/>
                        </a:rPr>
                        <a:t>G</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C8C8C8"/>
                          </a:solidFill>
                          <a:latin typeface="Cambria" pitchFamily="34" charset="0"/>
                          <a:ea typeface="Cambria" pitchFamily="34" charset="-122"/>
                          <a:cs typeface="Cambria" pitchFamily="34" charset="-120"/>
                        </a:rPr>
                        <a:t>one pooled model, country as a feature</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00" dirty="0">
                          <a:solidFill>
                            <a:srgbClr val="58C4DD"/>
                          </a:solidFill>
                          <a:latin typeface="Consolas" pitchFamily="34" charset="0"/>
                          <a:ea typeface="Consolas" pitchFamily="34" charset="-122"/>
                          <a:cs typeface="Consolas" pitchFamily="34" charset="-120"/>
                        </a:rPr>
                        <a:t>GF</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C8C8C8"/>
                          </a:solidFill>
                          <a:latin typeface="Cambria" pitchFamily="34" charset="0"/>
                          <a:ea typeface="Cambria" pitchFamily="34" charset="-122"/>
                          <a:cs typeface="Cambria" pitchFamily="34" charset="-120"/>
                        </a:rPr>
                        <a:t>the pooled model fine-tuned per country</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00" dirty="0">
                          <a:solidFill>
                            <a:srgbClr val="58C4DD"/>
                          </a:solidFill>
                          <a:latin typeface="Consolas" pitchFamily="34" charset="0"/>
                          <a:ea typeface="Consolas" pitchFamily="34" charset="-122"/>
                          <a:cs typeface="Consolas" pitchFamily="34" charset="-120"/>
                        </a:rPr>
                        <a:t>GI</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C8C8C8"/>
                          </a:solidFill>
                          <a:latin typeface="Cambria" pitchFamily="34" charset="0"/>
                          <a:ea typeface="Cambria" pitchFamily="34" charset="-122"/>
                          <a:cs typeface="Cambria" pitchFamily="34" charset="-120"/>
                        </a:rPr>
                        <a:t>pooled model plus an additive intercept shift</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00" dirty="0">
                          <a:solidFill>
                            <a:srgbClr val="58C4DD"/>
                          </a:solidFill>
                          <a:latin typeface="Consolas" pitchFamily="34" charset="0"/>
                          <a:ea typeface="Consolas" pitchFamily="34" charset="-122"/>
                          <a:cs typeface="Consolas" pitchFamily="34" charset="-120"/>
                        </a:rPr>
                        <a:t>ZS</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C8C8C8"/>
                          </a:solidFill>
                          <a:latin typeface="Cambria" pitchFamily="34" charset="0"/>
                          <a:ea typeface="Cambria" pitchFamily="34" charset="-122"/>
                          <a:cs typeface="Cambria" pitchFamily="34" charset="-120"/>
                        </a:rPr>
                        <a:t>zero-shot, no training on this panel</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6" name="Text 2"/>
          <p:cNvSpPr/>
          <p:nvPr/>
        </p:nvSpPr>
        <p:spPr>
          <a:xfrm>
            <a:off x="7909560" y="3200400"/>
            <a:ext cx="3611880"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TEMPORAL PROTOCOL</a:t>
            </a:r>
            <a:endParaRPr lang="en-US" sz="1000" dirty="0"/>
          </a:p>
        </p:txBody>
      </p:sp>
      <p:graphicFrame>
        <p:nvGraphicFramePr>
          <p:cNvPr id="19" name="Table 2"/>
          <p:cNvGraphicFramePr>
            <a:graphicFrameLocks noGrp="1"/>
          </p:cNvGraphicFramePr>
          <p:nvPr>
            <p:extLst>
              <p:ext uri="{D42A27DB-BD31-4B8C-83A1-F6EECF244321}">
                <p14:modId xmlns:p14="http://schemas.microsoft.com/office/powerpoint/2010/main" val="1579011935"/>
              </p:ext>
            </p:extLst>
          </p:nvPr>
        </p:nvGraphicFramePr>
        <p:xfrm>
          <a:off x="7909560" y="3456432"/>
          <a:ext cx="3593592" cy="914400"/>
        </p:xfrm>
        <a:graphic>
          <a:graphicData uri="http://schemas.openxmlformats.org/drawingml/2006/table">
            <a:tbl>
              <a:tblPr/>
              <a:tblGrid>
                <a:gridCol w="1280160"/>
                <a:gridCol w="2313432"/>
              </a:tblGrid>
              <a:tr h="283464">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Item</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Value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83464">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Refit</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ambria" pitchFamily="34" charset="0"/>
                          <a:ea typeface="Cambria" pitchFamily="34" charset="-122"/>
                          <a:cs typeface="Cambria" pitchFamily="34" charset="-120"/>
                        </a:rPr>
                        <a:t>every 12 months, expanding</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83464">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Months 1–114</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ambria" pitchFamily="34" charset="0"/>
                          <a:ea typeface="Cambria" pitchFamily="34" charset="-122"/>
                          <a:cs typeface="Cambria" pitchFamily="34" charset="-120"/>
                        </a:rPr>
                        <a:t>minimum training set</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83464">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Months 115–150</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ambria" pitchFamily="34" charset="0"/>
                          <a:ea typeface="Cambria" pitchFamily="34" charset="-122"/>
                          <a:cs typeface="Cambria" pitchFamily="34" charset="-120"/>
                        </a:rPr>
                        <a:t>burn-in: HPO validation and CP calibration</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83464">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Months 151–277</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ambria" pitchFamily="34" charset="0"/>
                          <a:ea typeface="Cambria" pitchFamily="34" charset="-122"/>
                          <a:cs typeface="Cambria" pitchFamily="34" charset="-120"/>
                        </a:rPr>
                        <a:t>evaluated (127)</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83464">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Information cap</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ambria" pitchFamily="34" charset="0"/>
                          <a:ea typeface="Cambria" pitchFamily="34" charset="-122"/>
                          <a:cs typeface="Cambria" pitchFamily="34" charset="-120"/>
                        </a:rPr>
                        <a:t>24 months for all trained models</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83464">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Exception</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ambria" pitchFamily="34" charset="0"/>
                          <a:ea typeface="Cambria" pitchFamily="34" charset="-122"/>
                          <a:cs typeface="Cambria" pitchFamily="34" charset="-120"/>
                        </a:rPr>
                        <a:t>TiRex uses the full expanding history</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8" name="Text 3"/>
          <p:cNvSpPr/>
          <p:nvPr/>
        </p:nvSpPr>
        <p:spPr>
          <a:xfrm>
            <a:off x="685800" y="5532120"/>
            <a:ext cx="10820095" cy="731520"/>
          </a:xfrm>
          <a:prstGeom prst="rect">
            <a:avLst/>
          </a:prstGeom>
          <a:noFill/>
          <a:ln/>
        </p:spPr>
        <p:txBody>
          <a:bodyPr wrap="square" lIns="0" tIns="0" rIns="0" bIns="0" rtlCol="0" anchor="t"/>
          <a:lstStyle/>
          <a:p>
            <a:pPr indent="0" marL="0">
              <a:buNone/>
            </a:pPr>
            <a:r>
              <a:rPr lang="en-US" sz="1100" dirty="0">
                <a:solidFill>
                  <a:srgbClr val="C8C8C8"/>
                </a:solidFill>
                <a:latin typeface="Cambria" pitchFamily="34" charset="0"/>
                <a:ea typeface="Cambria" pitchFamily="34" charset="-122"/>
                <a:cs typeface="Cambria" pitchFamily="34" charset="-120"/>
              </a:rPr>
              <a:t>742 combinations = model × regime × seed × recalibration method, and 14 methods apply to every variant. This is not a full factorial: the families differ in regimes, and only the neural models run three seeds. Evaluation therefore covers 742 × 10 = </a:t>
            </a:r>
            <a:pPr indent="0" marL="0">
              <a:buNone/>
            </a:pPr>
            <a:r>
              <a:rPr lang="en-US" sz="1100" b="1" dirty="0">
                <a:solidFill>
                  <a:srgbClr val="FFFFFF"/>
                </a:solidFill>
                <a:latin typeface="Cambria" pitchFamily="34" charset="0"/>
                <a:ea typeface="Cambria" pitchFamily="34" charset="-122"/>
                <a:cs typeface="Cambria" pitchFamily="34" charset="-120"/>
              </a:rPr>
              <a:t>7 420 cells</a:t>
            </a:r>
            <a:pPr indent="0" marL="0">
              <a:buNone/>
            </a:pPr>
            <a:r>
              <a:rPr lang="en-US" sz="1100" dirty="0">
                <a:solidFill>
                  <a:srgbClr val="C8C8C8"/>
                </a:solidFill>
                <a:latin typeface="Cambria" pitchFamily="34" charset="0"/>
                <a:ea typeface="Cambria" pitchFamily="34" charset="-122"/>
                <a:cs typeface="Cambria" pitchFamily="34" charset="-120"/>
              </a:rPr>
              <a:t>. The identical data_sha256 across all seven model runs establishes that every model saw the same panel.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C0F"/>
        </a:solidFill>
      </p:bgPr>
    </p:bg>
    <p:spTree>
      <p:nvGrpSpPr>
        <p:cNvPr id="1" name=""/>
        <p:cNvGrpSpPr/>
        <p:nvPr/>
      </p:nvGrpSpPr>
      <p:grpSpPr>
        <a:xfrm>
          <a:off x="0" y="0"/>
          <a:ext cx="0" cy="0"/>
          <a:chOff x="0" y="0"/>
          <a:chExt cx="0" cy="0"/>
        </a:xfrm>
      </p:grpSpPr>
      <p:sp>
        <p:nvSpPr>
          <p:cNvPr id="2" name="Text 0"/>
          <p:cNvSpPr/>
          <p:nvPr/>
        </p:nvSpPr>
        <p:spPr>
          <a:xfrm>
            <a:off x="685800" y="365760"/>
            <a:ext cx="10820095" cy="5029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Evaluation, part 1: is the interval valid?</a:t>
            </a:r>
            <a:endParaRPr lang="en-US" sz="2700" dirty="0"/>
          </a:p>
        </p:txBody>
      </p:sp>
      <p:sp>
        <p:nvSpPr>
          <p:cNvPr id="3" name="Text 1"/>
          <p:cNvSpPr/>
          <p:nvPr/>
        </p:nvSpPr>
        <p:spPr>
          <a:xfrm>
            <a:off x="685800" y="1280160"/>
            <a:ext cx="10820095" cy="457200"/>
          </a:xfrm>
          <a:prstGeom prst="rect">
            <a:avLst/>
          </a:prstGeom>
          <a:noFill/>
          <a:ln/>
        </p:spPr>
        <p:txBody>
          <a:bodyPr wrap="square" lIns="0" tIns="0" rIns="0" bIns="0" rtlCol="0" anchor="t"/>
          <a:lstStyle/>
          <a:p>
            <a:pPr indent="0" marL="0">
              <a:buNone/>
            </a:pPr>
            <a:r>
              <a:rPr lang="en-US" sz="1250" dirty="0">
                <a:solidFill>
                  <a:srgbClr val="C8C8C8"/>
                </a:solidFill>
                <a:latin typeface="Cambria" pitchFamily="34" charset="0"/>
                <a:ea typeface="Cambria" pitchFamily="34" charset="-122"/>
                <a:cs typeface="Cambria" pitchFamily="34" charset="-120"/>
              </a:rPr>
              <a:t>Empirical coverage is the share of test months in which the realised spread lies inside the interval. Nominal target 0.80. Three tests, in increasing strictness:</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820095" cy="914400"/>
        </p:xfrm>
        <a:graphic>
          <a:graphicData uri="http://schemas.openxmlformats.org/drawingml/2006/table">
            <a:tbl>
              <a:tblPr/>
              <a:tblGrid>
                <a:gridCol w="2103120"/>
                <a:gridCol w="3840480"/>
                <a:gridCol w="3200400"/>
                <a:gridCol w="1673352"/>
              </a:tblGrid>
              <a:tr h="292608">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Test</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Null hypothesis</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Conditions on</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Used as</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92608">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Kupiec (UC)</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the violation rate equals α</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nothing</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58C4DD"/>
                          </a:solidFill>
                          <a:latin typeface="Cambria" pitchFamily="34" charset="0"/>
                          <a:ea typeface="Cambria" pitchFamily="34" charset="-122"/>
                          <a:cs typeface="Cambria" pitchFamily="34" charset="-120"/>
                        </a:rPr>
                        <a:t>gate</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92608">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Christoffersen (IND)</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violations are serially independent</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the previous violation</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92608">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Christoffersen (CC)</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UC and independence jointly</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the previous violation</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58C4DD"/>
                          </a:solidFill>
                          <a:latin typeface="Cambria" pitchFamily="34" charset="0"/>
                          <a:ea typeface="Cambria" pitchFamily="34" charset="-122"/>
                          <a:cs typeface="Cambria" pitchFamily="34" charset="-120"/>
                        </a:rPr>
                        <a:t>gate</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92608">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Dynamic Quantile</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violations are unpredictable</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4 own lags and the interval width</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reported only</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5" name="Text 2"/>
          <p:cNvSpPr/>
          <p:nvPr/>
        </p:nvSpPr>
        <p:spPr>
          <a:xfrm>
            <a:off x="685800" y="3383280"/>
            <a:ext cx="10820095"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THE ADMISSIBILITY GATE</a:t>
            </a:r>
            <a:endParaRPr lang="en-US" sz="1000" dirty="0"/>
          </a:p>
        </p:txBody>
      </p:sp>
      <p:sp>
        <p:nvSpPr>
          <p:cNvPr id="6" name="Text 3"/>
          <p:cNvSpPr/>
          <p:nvPr/>
        </p:nvSpPr>
        <p:spPr>
          <a:xfrm>
            <a:off x="685800" y="3657600"/>
            <a:ext cx="10820095" cy="548640"/>
          </a:xfrm>
          <a:prstGeom prst="rect">
            <a:avLst/>
          </a:prstGeom>
          <a:noFill/>
          <a:ln/>
        </p:spPr>
        <p:txBody>
          <a:bodyPr wrap="square" lIns="0" tIns="0" rIns="0" bIns="0" rtlCol="0" anchor="ctr"/>
          <a:lstStyle/>
          <a:p>
            <a:pPr indent="0" marL="0">
              <a:buNone/>
            </a:pPr>
            <a:r>
              <a:rPr lang="en-US" sz="1250" dirty="0">
                <a:solidFill>
                  <a:srgbClr val="C8C8C8"/>
                </a:solidFill>
                <a:latin typeface="Cambria" pitchFamily="34" charset="0"/>
                <a:ea typeface="Cambria" pitchFamily="34" charset="-122"/>
                <a:cs typeface="Cambria" pitchFamily="34" charset="-120"/>
              </a:rPr>
              <a:t>A (model, regime, seed, method) combination is </a:t>
            </a:r>
            <a:pPr indent="0" marL="0">
              <a:buNone/>
            </a:pPr>
            <a:r>
              <a:rPr lang="en-US" sz="1250" b="1" dirty="0">
                <a:solidFill>
                  <a:srgbClr val="58C4DD"/>
                </a:solidFill>
                <a:latin typeface="Cambria" pitchFamily="34" charset="0"/>
                <a:ea typeface="Cambria" pitchFamily="34" charset="-122"/>
                <a:cs typeface="Cambria" pitchFamily="34" charset="-120"/>
              </a:rPr>
              <a:t>admissible</a:t>
            </a:r>
            <a:pPr indent="0" marL="0">
              <a:buNone/>
            </a:pPr>
            <a:r>
              <a:rPr lang="en-US" sz="1250" dirty="0">
                <a:solidFill>
                  <a:srgbClr val="C8C8C8"/>
                </a:solidFill>
                <a:latin typeface="Cambria" pitchFamily="34" charset="0"/>
                <a:ea typeface="Cambria" pitchFamily="34" charset="-122"/>
                <a:cs typeface="Cambria" pitchFamily="34" charset="-120"/>
              </a:rPr>
              <a:t> when Kupiec and Christoffersen-CC are both non-rejected, at BH-adjusted </a:t>
            </a:r>
            <a:pPr indent="0" marL="0">
              <a:buNone/>
            </a:pPr>
            <a:r>
              <a:rPr lang="en-US" sz="1250" b="1" dirty="0">
                <a:solidFill>
                  <a:srgbClr val="FFFFFF"/>
                </a:solidFill>
                <a:latin typeface="Cambria" pitchFamily="34" charset="0"/>
                <a:ea typeface="Cambria" pitchFamily="34" charset="-122"/>
                <a:cs typeface="Cambria" pitchFamily="34" charset="-120"/>
              </a:rPr>
              <a:t>q ≥ 0.10</a:t>
            </a:r>
            <a:pPr indent="0" marL="0">
              <a:buNone/>
            </a:pPr>
            <a:r>
              <a:rPr lang="en-US" sz="1250" dirty="0">
                <a:solidFill>
                  <a:srgbClr val="C8C8C8"/>
                </a:solidFill>
                <a:latin typeface="Cambria" pitchFamily="34" charset="0"/>
                <a:ea typeface="Cambria" pitchFamily="34" charset="-122"/>
                <a:cs typeface="Cambria" pitchFamily="34" charset="-120"/>
              </a:rPr>
              <a:t>, in at least </a:t>
            </a:r>
            <a:pPr indent="0" marL="0">
              <a:buNone/>
            </a:pPr>
            <a:r>
              <a:rPr lang="en-US" sz="1250" b="1" dirty="0">
                <a:solidFill>
                  <a:srgbClr val="FFFFFF"/>
                </a:solidFill>
                <a:latin typeface="Cambria" pitchFamily="34" charset="0"/>
                <a:ea typeface="Cambria" pitchFamily="34" charset="-122"/>
                <a:cs typeface="Cambria" pitchFamily="34" charset="-120"/>
              </a:rPr>
              <a:t>70 %</a:t>
            </a:r>
            <a:pPr indent="0" marL="0">
              <a:buNone/>
            </a:pPr>
            <a:r>
              <a:rPr lang="en-US" sz="1250" dirty="0">
                <a:solidFill>
                  <a:srgbClr val="C8C8C8"/>
                </a:solidFill>
                <a:latin typeface="Cambria" pitchFamily="34" charset="0"/>
                <a:ea typeface="Cambria" pitchFamily="34" charset="-122"/>
                <a:cs typeface="Cambria" pitchFamily="34" charset="-120"/>
              </a:rPr>
              <a:t> of the ten countries. Rankings are formed only inside the admissible set.</a:t>
            </a:r>
            <a:endParaRPr lang="en-US" sz="125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85800" y="4315968"/>
          <a:ext cx="10820095" cy="914400"/>
        </p:xfrm>
        <a:graphic>
          <a:graphicData uri="http://schemas.openxmlformats.org/drawingml/2006/table">
            <a:tbl>
              <a:tblPr/>
              <a:tblGrid>
                <a:gridCol w="3017520"/>
                <a:gridCol w="7799832"/>
              </a:tblGrid>
              <a:tr h="365760">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Design choice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Rationale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365760">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70 % of countries, not all ten</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1000" dirty="0">
                          <a:solidFill>
                            <a:srgbClr val="C8C8C8"/>
                          </a:solidFill>
                          <a:latin typeface="Cambria" pitchFamily="34" charset="0"/>
                          <a:ea typeface="Cambria" pitchFamily="34" charset="-122"/>
                          <a:cs typeface="Cambria" pitchFamily="34" charset="-120"/>
                        </a:rPr>
                        <a:t>ten spreads are strongly cross-correlated and each cell has only 127 months; a stricter rule empties the admissible set</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65760">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q ≥ 0.10, not p ≥ 0.05</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1000" dirty="0">
                          <a:solidFill>
                            <a:srgbClr val="C8C8C8"/>
                          </a:solidFill>
                          <a:latin typeface="Cambria" pitchFamily="34" charset="0"/>
                          <a:ea typeface="Cambria" pitchFamily="34" charset="-122"/>
                          <a:cs typeface="Cambria" pitchFamily="34" charset="-120"/>
                        </a:rPr>
                        <a:t>7 420 cells are tested, so the family-wise error must be controlled; BH controls the false-discovery rate per family</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65760">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Calibration gates, Winkler ranks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1000" dirty="0">
                          <a:solidFill>
                            <a:srgbClr val="C8C8C8"/>
                          </a:solidFill>
                          <a:latin typeface="Cambria" pitchFamily="34" charset="0"/>
                          <a:ea typeface="Cambria" pitchFamily="34" charset="-122"/>
                          <a:cs typeface="Cambria" pitchFamily="34" charset="-120"/>
                        </a:rPr>
                        <a:t>coverage alone is trivially maximised by widening the interval, so it cannot be a score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65760">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DQ reported, not gated</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1000" dirty="0">
                          <a:solidFill>
                            <a:srgbClr val="C8C8C8"/>
                          </a:solidFill>
                          <a:latin typeface="Cambria" pitchFamily="34" charset="0"/>
                          <a:ea typeface="Cambria" pitchFamily="34" charset="-122"/>
                          <a:cs typeface="Cambria" pitchFamily="34" charset="-120"/>
                        </a:rPr>
                        <a:t>pre-registered as diagnostic; it rejects broadly and would empty the set (see slide 11)</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C0F"/>
        </a:solidFill>
      </p:bgPr>
    </p:bg>
    <p:spTree>
      <p:nvGrpSpPr>
        <p:cNvPr id="1" name=""/>
        <p:cNvGrpSpPr/>
        <p:nvPr/>
      </p:nvGrpSpPr>
      <p:grpSpPr>
        <a:xfrm>
          <a:off x="0" y="0"/>
          <a:ext cx="0" cy="0"/>
          <a:chOff x="0" y="0"/>
          <a:chExt cx="0" cy="0"/>
        </a:xfrm>
      </p:grpSpPr>
      <p:sp>
        <p:nvSpPr>
          <p:cNvPr id="2" name="Text 0"/>
          <p:cNvSpPr/>
          <p:nvPr/>
        </p:nvSpPr>
        <p:spPr>
          <a:xfrm>
            <a:off x="685800" y="365760"/>
            <a:ext cx="10820095" cy="5029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Evaluation, part 2: how good is the interval?</a:t>
            </a:r>
            <a:endParaRPr lang="en-US" sz="2700" dirty="0"/>
          </a:p>
        </p:txBody>
      </p:sp>
      <p:sp>
        <p:nvSpPr>
          <p:cNvPr id="3" name="Text 1"/>
          <p:cNvSpPr/>
          <p:nvPr/>
        </p:nvSpPr>
        <p:spPr>
          <a:xfrm>
            <a:off x="685800" y="1280160"/>
            <a:ext cx="10820095"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INTERVAL SCORE (WINKLER 1972)</a:t>
            </a:r>
            <a:endParaRPr lang="en-US" sz="1000" dirty="0"/>
          </a:p>
        </p:txBody>
      </p:sp>
      <p:sp>
        <p:nvSpPr>
          <p:cNvPr id="4" name="Text 2"/>
          <p:cNvSpPr/>
          <p:nvPr/>
        </p:nvSpPr>
        <p:spPr>
          <a:xfrm>
            <a:off x="685800" y="1572768"/>
            <a:ext cx="10820095" cy="384048"/>
          </a:xfrm>
          <a:prstGeom prst="rect">
            <a:avLst/>
          </a:prstGeom>
          <a:noFill/>
          <a:ln/>
        </p:spPr>
        <p:txBody>
          <a:bodyPr wrap="square" lIns="0" tIns="0" rIns="0" bIns="0" rtlCol="0" anchor="ctr"/>
          <a:lstStyle/>
          <a:p>
            <a:pPr indent="0" marL="0">
              <a:buNone/>
            </a:pPr>
            <a:r>
              <a:rPr lang="en-US" sz="1900" i="1" dirty="0">
                <a:solidFill>
                  <a:srgbClr val="FFFFFF"/>
                </a:solidFill>
                <a:latin typeface="Cambria" pitchFamily="34" charset="0"/>
                <a:ea typeface="Cambria" pitchFamily="34" charset="-122"/>
                <a:cs typeface="Cambria" pitchFamily="34" charset="-120"/>
              </a:rPr>
              <a:t>W</a:t>
            </a:r>
            <a:pPr indent="0" marL="0">
              <a:buNone/>
            </a:pPr>
            <a:r>
              <a:rPr lang="en-US" sz="1200" dirty="0">
                <a:solidFill>
                  <a:srgbClr val="FFFFFF"/>
                </a:solidFill>
                <a:latin typeface="Cambria" pitchFamily="34" charset="0"/>
                <a:ea typeface="Cambria" pitchFamily="34" charset="-122"/>
                <a:cs typeface="Cambria" pitchFamily="34" charset="-120"/>
              </a:rPr>
              <a:t>α</a:t>
            </a:r>
            <a:pPr indent="0" marL="0">
              <a:buNone/>
            </a:pPr>
            <a:r>
              <a:rPr lang="en-US" sz="1900" dirty="0">
                <a:solidFill>
                  <a:srgbClr val="FFFFFF"/>
                </a:solidFill>
                <a:latin typeface="Cambria" pitchFamily="34" charset="0"/>
                <a:ea typeface="Cambria" pitchFamily="34" charset="-122"/>
                <a:cs typeface="Cambria" pitchFamily="34" charset="-120"/>
              </a:rPr>
              <a:t>(l, u; y)  =  (u − l)  +  </a:t>
            </a:r>
            <a:pPr indent="0" marL="0">
              <a:buNone/>
            </a:pPr>
            <a:r>
              <a:rPr lang="en-US" sz="1900" dirty="0">
                <a:solidFill>
                  <a:srgbClr val="FFFFFF"/>
                </a:solidFill>
                <a:latin typeface="Cambria" pitchFamily="34" charset="0"/>
                <a:ea typeface="Cambria" pitchFamily="34" charset="-122"/>
                <a:cs typeface="Cambria" pitchFamily="34" charset="-120"/>
              </a:rPr>
              <a:t>2/α</a:t>
            </a:r>
            <a:pPr indent="0" marL="0">
              <a:buNone/>
            </a:pPr>
            <a:r>
              <a:rPr lang="en-US" sz="1900" dirty="0">
                <a:solidFill>
                  <a:srgbClr val="FFFFFF"/>
                </a:solidFill>
                <a:latin typeface="Cambria" pitchFamily="34" charset="0"/>
                <a:ea typeface="Cambria" pitchFamily="34" charset="-122"/>
                <a:cs typeface="Cambria" pitchFamily="34" charset="-120"/>
              </a:rPr>
              <a:t> · (l − y) · 1{y &lt; l}  +  </a:t>
            </a:r>
            <a:pPr indent="0" marL="0">
              <a:buNone/>
            </a:pPr>
            <a:r>
              <a:rPr lang="en-US" sz="1900" dirty="0">
                <a:solidFill>
                  <a:srgbClr val="FFFFFF"/>
                </a:solidFill>
                <a:latin typeface="Cambria" pitchFamily="34" charset="0"/>
                <a:ea typeface="Cambria" pitchFamily="34" charset="-122"/>
                <a:cs typeface="Cambria" pitchFamily="34" charset="-120"/>
              </a:rPr>
              <a:t>2/α</a:t>
            </a:r>
            <a:pPr indent="0" marL="0">
              <a:buNone/>
            </a:pPr>
            <a:r>
              <a:rPr lang="en-US" sz="1900" dirty="0">
                <a:solidFill>
                  <a:srgbClr val="FFFFFF"/>
                </a:solidFill>
                <a:latin typeface="Cambria" pitchFamily="34" charset="0"/>
                <a:ea typeface="Cambria" pitchFamily="34" charset="-122"/>
                <a:cs typeface="Cambria" pitchFamily="34" charset="-120"/>
              </a:rPr>
              <a:t> · (y − u) · 1{y &gt; u}</a:t>
            </a:r>
            <a:endParaRPr lang="en-US" sz="1900" dirty="0"/>
          </a:p>
        </p:txBody>
      </p:sp>
      <p:sp>
        <p:nvSpPr>
          <p:cNvPr id="5" name="Text 3"/>
          <p:cNvSpPr/>
          <p:nvPr/>
        </p:nvSpPr>
        <p:spPr>
          <a:xfrm>
            <a:off x="2103120" y="1956816"/>
            <a:ext cx="9402775" cy="256032"/>
          </a:xfrm>
          <a:prstGeom prst="rect">
            <a:avLst/>
          </a:prstGeom>
          <a:noFill/>
          <a:ln/>
        </p:spPr>
        <p:txBody>
          <a:bodyPr wrap="square" lIns="0" tIns="0" rIns="0" bIns="0" rtlCol="0" anchor="ctr"/>
          <a:lstStyle/>
          <a:p>
            <a:pPr indent="0" marL="0">
              <a:buNone/>
            </a:pPr>
            <a:r>
              <a:rPr lang="en-US" sz="1000" dirty="0">
                <a:solidFill>
                  <a:srgbClr val="58C4DD"/>
                </a:solidFill>
                <a:latin typeface="Consolas" pitchFamily="34" charset="0"/>
                <a:ea typeface="Consolas" pitchFamily="34" charset="-122"/>
                <a:cs typeface="Consolas" pitchFamily="34" charset="-120"/>
              </a:rPr>
              <a:t>width</a:t>
            </a:r>
            <a:pPr indent="0" marL="0">
              <a:buNone/>
            </a:pPr>
            <a:r>
              <a:rPr lang="en-US" sz="1000" dirty="0">
                <a:solidFill>
                  <a:srgbClr val="7A7F87"/>
                </a:solidFill>
                <a:latin typeface="Consolas" pitchFamily="34" charset="0"/>
                <a:ea typeface="Consolas" pitchFamily="34" charset="-122"/>
                <a:cs typeface="Consolas" pitchFamily="34" charset="-120"/>
              </a:rPr>
              <a:t>                    penalty when the realisation falls below the interval          penalty when it falls above</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5800" y="2377440"/>
          <a:ext cx="10820095" cy="914400"/>
        </p:xfrm>
        <a:graphic>
          <a:graphicData uri="http://schemas.openxmlformats.org/drawingml/2006/table">
            <a:tbl>
              <a:tblPr/>
              <a:tblGrid>
                <a:gridCol w="3291840"/>
                <a:gridCol w="7525512"/>
              </a:tblGrid>
              <a:tr h="329184">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Property</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Consequence for this study</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329184">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Strictly proper scoring rule</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1000" dirty="0">
                          <a:solidFill>
                            <a:srgbClr val="C8C8C8"/>
                          </a:solidFill>
                          <a:latin typeface="Cambria" pitchFamily="34" charset="0"/>
                          <a:ea typeface="Cambria" pitchFamily="34" charset="-122"/>
                          <a:cs typeface="Cambria" pitchFamily="34" charset="-120"/>
                        </a:rPr>
                        <a:t>minimised exactly at the true quantiles of the data-generating distribution, so the ranking is not ad hoc</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29184">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It is a loss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1000" dirty="0">
                          <a:solidFill>
                            <a:srgbClr val="C8C8C8"/>
                          </a:solidFill>
                          <a:latin typeface="Cambria" pitchFamily="34" charset="0"/>
                          <a:ea typeface="Cambria" pitchFamily="34" charset="-122"/>
                          <a:cs typeface="Cambria" pitchFamily="34" charset="-120"/>
                        </a:rPr>
                        <a:t>lower is better; a narrow interval costs nothing until it actually misses</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29184">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Penalty scales with distance</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1000" dirty="0">
                          <a:solidFill>
                            <a:srgbClr val="C8C8C8"/>
                          </a:solidFill>
                          <a:latin typeface="Cambria" pitchFamily="34" charset="0"/>
                          <a:ea typeface="Cambria" pitchFamily="34" charset="-122"/>
                          <a:cs typeface="Cambria" pitchFamily="34" charset="-120"/>
                        </a:rPr>
                        <a:t>a miss by 5 bp and a miss by 50 bp are not treated alike, unlike a hit-rate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29184">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Not additively decomposable across models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1000" dirty="0">
                          <a:solidFill>
                            <a:srgbClr val="C8C8C8"/>
                          </a:solidFill>
                          <a:latin typeface="Cambria" pitchFamily="34" charset="0"/>
                          <a:ea typeface="Cambria" pitchFamily="34" charset="-122"/>
                          <a:cs typeface="Cambria" pitchFamily="34" charset="-120"/>
                        </a:rPr>
                        <a:t>the skill score below cannot be attributed to a single source of improvement</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7" name="Text 4"/>
          <p:cNvSpPr/>
          <p:nvPr/>
        </p:nvSpPr>
        <p:spPr>
          <a:xfrm>
            <a:off x="685800" y="3977640"/>
            <a:ext cx="5760720"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SKILL SCORE — THE READING RULE FOR EVERY TABLE THAT FOLLOWS</a:t>
            </a:r>
            <a:endParaRPr lang="en-US" sz="1000" dirty="0"/>
          </a:p>
        </p:txBody>
      </p:sp>
      <p:sp>
        <p:nvSpPr>
          <p:cNvPr id="8" name="Text 5"/>
          <p:cNvSpPr/>
          <p:nvPr/>
        </p:nvSpPr>
        <p:spPr>
          <a:xfrm>
            <a:off x="685800" y="4279392"/>
            <a:ext cx="5760720" cy="365760"/>
          </a:xfrm>
          <a:prstGeom prst="rect">
            <a:avLst/>
          </a:prstGeom>
          <a:noFill/>
          <a:ln/>
        </p:spPr>
        <p:txBody>
          <a:bodyPr wrap="square" lIns="0" tIns="0" rIns="0" bIns="0" rtlCol="0" anchor="ctr"/>
          <a:lstStyle/>
          <a:p>
            <a:pPr indent="0" marL="0">
              <a:buNone/>
            </a:pPr>
            <a:r>
              <a:rPr lang="en-US" sz="1700" i="1" dirty="0">
                <a:solidFill>
                  <a:srgbClr val="FFFFFF"/>
                </a:solidFill>
                <a:latin typeface="Cambria" pitchFamily="34" charset="0"/>
                <a:ea typeface="Cambria" pitchFamily="34" charset="-122"/>
                <a:cs typeface="Cambria" pitchFamily="34" charset="-120"/>
              </a:rPr>
              <a:t>Skill</a:t>
            </a:r>
            <a:pPr indent="0" marL="0">
              <a:buNone/>
            </a:pPr>
            <a:r>
              <a:rPr lang="en-US" sz="1100" dirty="0">
                <a:solidFill>
                  <a:srgbClr val="FFFFFF"/>
                </a:solidFill>
                <a:latin typeface="Cambria" pitchFamily="34" charset="0"/>
                <a:ea typeface="Cambria" pitchFamily="34" charset="-122"/>
                <a:cs typeface="Cambria" pitchFamily="34" charset="-120"/>
              </a:rPr>
              <a:t>m</a:t>
            </a:r>
            <a:pPr indent="0" marL="0">
              <a:buNone/>
            </a:pPr>
            <a:r>
              <a:rPr lang="en-US" sz="1700" dirty="0">
                <a:solidFill>
                  <a:srgbClr val="FFFFFF"/>
                </a:solidFill>
                <a:latin typeface="Cambria" pitchFamily="34" charset="0"/>
                <a:ea typeface="Cambria" pitchFamily="34" charset="-122"/>
                <a:cs typeface="Cambria" pitchFamily="34" charset="-120"/>
              </a:rPr>
              <a:t>(c)  =  1 − </a:t>
            </a:r>
            <a:pPr indent="0" marL="0">
              <a:buNone/>
            </a:pPr>
            <a:r>
              <a:rPr lang="en-US" sz="1700" i="1" dirty="0">
                <a:solidFill>
                  <a:srgbClr val="FFFFFF"/>
                </a:solidFill>
                <a:latin typeface="Cambria" pitchFamily="34" charset="0"/>
                <a:ea typeface="Cambria" pitchFamily="34" charset="-122"/>
                <a:cs typeface="Cambria" pitchFamily="34" charset="-120"/>
              </a:rPr>
              <a:t>W̄</a:t>
            </a:r>
            <a:pPr indent="0" marL="0">
              <a:buNone/>
            </a:pPr>
            <a:r>
              <a:rPr lang="en-US" sz="1100" dirty="0">
                <a:solidFill>
                  <a:srgbClr val="FFFFFF"/>
                </a:solidFill>
                <a:latin typeface="Cambria" pitchFamily="34" charset="0"/>
                <a:ea typeface="Cambria" pitchFamily="34" charset="-122"/>
                <a:cs typeface="Cambria" pitchFamily="34" charset="-120"/>
              </a:rPr>
              <a:t>m</a:t>
            </a:r>
            <a:pPr indent="0" marL="0">
              <a:buNone/>
            </a:pPr>
            <a:r>
              <a:rPr lang="en-US" sz="1700" dirty="0">
                <a:solidFill>
                  <a:srgbClr val="FFFFFF"/>
                </a:solidFill>
                <a:latin typeface="Cambria" pitchFamily="34" charset="0"/>
                <a:ea typeface="Cambria" pitchFamily="34" charset="-122"/>
                <a:cs typeface="Cambria" pitchFamily="34" charset="-120"/>
              </a:rPr>
              <a:t>(c) / </a:t>
            </a:r>
            <a:pPr indent="0" marL="0">
              <a:buNone/>
            </a:pPr>
            <a:r>
              <a:rPr lang="en-US" sz="1700" i="1" dirty="0">
                <a:solidFill>
                  <a:srgbClr val="FFFFFF"/>
                </a:solidFill>
                <a:latin typeface="Cambria" pitchFamily="34" charset="0"/>
                <a:ea typeface="Cambria" pitchFamily="34" charset="-122"/>
                <a:cs typeface="Cambria" pitchFamily="34" charset="-120"/>
              </a:rPr>
              <a:t>W̄</a:t>
            </a:r>
            <a:pPr indent="0" marL="0">
              <a:buNone/>
            </a:pPr>
            <a:r>
              <a:rPr lang="en-US" sz="1100" dirty="0">
                <a:solidFill>
                  <a:srgbClr val="FFFFFF"/>
                </a:solidFill>
                <a:latin typeface="Cambria" pitchFamily="34" charset="0"/>
                <a:ea typeface="Cambria" pitchFamily="34" charset="-122"/>
                <a:cs typeface="Cambria" pitchFamily="34" charset="-120"/>
              </a:rPr>
              <a:t>rw/L/native</a:t>
            </a:r>
            <a:pPr indent="0" marL="0">
              <a:buNone/>
            </a:pPr>
            <a:r>
              <a:rPr lang="en-US" sz="1700" dirty="0">
                <a:solidFill>
                  <a:srgbClr val="FFFFFF"/>
                </a:solidFill>
                <a:latin typeface="Cambria" pitchFamily="34" charset="0"/>
                <a:ea typeface="Cambria" pitchFamily="34" charset="-122"/>
                <a:cs typeface="Cambria" pitchFamily="34" charset="-120"/>
              </a:rPr>
              <a:t>(c)</a:t>
            </a:r>
            <a:endParaRPr lang="en-US" sz="1700" dirty="0"/>
          </a:p>
        </p:txBody>
      </p:sp>
      <p:sp>
        <p:nvSpPr>
          <p:cNvPr id="9" name="Text 6"/>
          <p:cNvSpPr/>
          <p:nvPr/>
        </p:nvSpPr>
        <p:spPr>
          <a:xfrm>
            <a:off x="685800" y="4709160"/>
            <a:ext cx="5760720" cy="11887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C8C8C8"/>
                </a:solidFill>
                <a:latin typeface="Cambria" pitchFamily="34" charset="0"/>
                <a:ea typeface="Cambria" pitchFamily="34" charset="-122"/>
                <a:cs typeface="Cambria" pitchFamily="34" charset="-120"/>
              </a:rPr>
              <a:t>Computed per country on the common sample, then the median across the ten countries.</a:t>
            </a:r>
            <a:endParaRPr lang="en-US" sz="1100" dirty="0"/>
          </a:p>
          <a:p>
            <a:pPr marL="342900" indent="-342900">
              <a:spcAft>
                <a:spcPts val="600"/>
              </a:spcAft>
              <a:buSzPct val="100000"/>
              <a:buChar char="•"/>
            </a:pPr>
            <a:r>
              <a:rPr lang="en-US" sz="1100" b="1" dirty="0">
                <a:solidFill>
                  <a:srgbClr val="FFFFFF"/>
                </a:solidFill>
                <a:latin typeface="Cambria" pitchFamily="34" charset="0"/>
                <a:ea typeface="Cambria" pitchFamily="34" charset="-122"/>
                <a:cs typeface="Cambria" pitchFamily="34" charset="-120"/>
              </a:rPr>
              <a:t>Skill &gt; 0 means better than the random walk with its own native quantiles.</a:t>
            </a:r>
            <a:endParaRPr lang="en-US" sz="1100" dirty="0"/>
          </a:p>
          <a:p>
            <a:pPr marL="342900" indent="-342900">
              <a:spcAft>
                <a:spcPts val="600"/>
              </a:spcAft>
              <a:buSzPct val="100000"/>
              <a:buChar char="•"/>
            </a:pPr>
            <a:r>
              <a:rPr lang="en-US" sz="1100" dirty="0">
                <a:solidFill>
                  <a:srgbClr val="C8C8C8"/>
                </a:solidFill>
                <a:latin typeface="Cambria" pitchFamily="34" charset="0"/>
                <a:ea typeface="Cambria" pitchFamily="34" charset="-122"/>
                <a:cs typeface="Cambria" pitchFamily="34" charset="-120"/>
              </a:rPr>
              <a:t>Per-country first because spread levels differ by a factor of 9.5 across the panel; pooling raw Winkler values would let Greece dominate every aggregate.</a:t>
            </a:r>
            <a:endParaRPr lang="en-US" sz="1100" dirty="0"/>
          </a:p>
        </p:txBody>
      </p:sp>
      <p:sp>
        <p:nvSpPr>
          <p:cNvPr id="10" name="Text 7"/>
          <p:cNvSpPr/>
          <p:nvPr/>
        </p:nvSpPr>
        <p:spPr>
          <a:xfrm>
            <a:off x="6995160" y="3977640"/>
            <a:ext cx="4507992"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POINT-FORECAST MEASURE</a:t>
            </a:r>
            <a:endParaRPr lang="en-US" sz="1000" dirty="0"/>
          </a:p>
        </p:txBody>
      </p:sp>
      <p:sp>
        <p:nvSpPr>
          <p:cNvPr id="11" name="Text 8"/>
          <p:cNvSpPr/>
          <p:nvPr/>
        </p:nvSpPr>
        <p:spPr>
          <a:xfrm>
            <a:off x="6995160" y="4279392"/>
            <a:ext cx="4507992" cy="365760"/>
          </a:xfrm>
          <a:prstGeom prst="rect">
            <a:avLst/>
          </a:prstGeom>
          <a:noFill/>
          <a:ln/>
        </p:spPr>
        <p:txBody>
          <a:bodyPr wrap="square" lIns="0" tIns="0" rIns="0" bIns="0" rtlCol="0" anchor="ctr"/>
          <a:lstStyle/>
          <a:p>
            <a:pPr indent="0" marL="0">
              <a:buNone/>
            </a:pPr>
            <a:r>
              <a:rPr lang="en-US" sz="1500" i="1" dirty="0">
                <a:solidFill>
                  <a:srgbClr val="FFFFFF"/>
                </a:solidFill>
                <a:latin typeface="Cambria" pitchFamily="34" charset="0"/>
                <a:ea typeface="Cambria" pitchFamily="34" charset="-122"/>
                <a:cs typeface="Cambria" pitchFamily="34" charset="-120"/>
              </a:rPr>
              <a:t>MAE ratio</a:t>
            </a:r>
            <a:pPr indent="0" marL="0">
              <a:buNone/>
            </a:pPr>
            <a:r>
              <a:rPr lang="en-US" sz="1000" dirty="0">
                <a:solidFill>
                  <a:srgbClr val="FFFFFF"/>
                </a:solidFill>
                <a:latin typeface="Cambria" pitchFamily="34" charset="0"/>
                <a:ea typeface="Cambria" pitchFamily="34" charset="-122"/>
                <a:cs typeface="Cambria" pitchFamily="34" charset="-120"/>
              </a:rPr>
              <a:t>m</a:t>
            </a:r>
            <a:pPr indent="0" marL="0">
              <a:buNone/>
            </a:pPr>
            <a:r>
              <a:rPr lang="en-US" sz="1500" dirty="0">
                <a:solidFill>
                  <a:srgbClr val="FFFFFF"/>
                </a:solidFill>
                <a:latin typeface="Cambria" pitchFamily="34" charset="0"/>
                <a:ea typeface="Cambria" pitchFamily="34" charset="-122"/>
                <a:cs typeface="Cambria" pitchFamily="34" charset="-120"/>
              </a:rPr>
              <a:t>(c)  =  MAE</a:t>
            </a:r>
            <a:pPr indent="0" marL="0">
              <a:buNone/>
            </a:pPr>
            <a:r>
              <a:rPr lang="en-US" sz="1000" dirty="0">
                <a:solidFill>
                  <a:srgbClr val="FFFFFF"/>
                </a:solidFill>
                <a:latin typeface="Cambria" pitchFamily="34" charset="0"/>
                <a:ea typeface="Cambria" pitchFamily="34" charset="-122"/>
                <a:cs typeface="Cambria" pitchFamily="34" charset="-120"/>
              </a:rPr>
              <a:t>m</a:t>
            </a:r>
            <a:pPr indent="0" marL="0">
              <a:buNone/>
            </a:pPr>
            <a:r>
              <a:rPr lang="en-US" sz="1500" dirty="0">
                <a:solidFill>
                  <a:srgbClr val="FFFFFF"/>
                </a:solidFill>
                <a:latin typeface="Cambria" pitchFamily="34" charset="0"/>
                <a:ea typeface="Cambria" pitchFamily="34" charset="-122"/>
                <a:cs typeface="Cambria" pitchFamily="34" charset="-120"/>
              </a:rPr>
              <a:t>(c) / MAE</a:t>
            </a:r>
            <a:pPr indent="0" marL="0">
              <a:buNone/>
            </a:pPr>
            <a:r>
              <a:rPr lang="en-US" sz="1000" dirty="0">
                <a:solidFill>
                  <a:srgbClr val="FFFFFF"/>
                </a:solidFill>
                <a:latin typeface="Cambria" pitchFamily="34" charset="0"/>
                <a:ea typeface="Cambria" pitchFamily="34" charset="-122"/>
                <a:cs typeface="Cambria" pitchFamily="34" charset="-120"/>
              </a:rPr>
              <a:t>rw</a:t>
            </a:r>
            <a:pPr indent="0" marL="0">
              <a:buNone/>
            </a:pPr>
            <a:r>
              <a:rPr lang="en-US" sz="1500" dirty="0">
                <a:solidFill>
                  <a:srgbClr val="FFFFFF"/>
                </a:solidFill>
                <a:latin typeface="Cambria" pitchFamily="34" charset="0"/>
                <a:ea typeface="Cambria" pitchFamily="34" charset="-122"/>
                <a:cs typeface="Cambria" pitchFamily="34" charset="-120"/>
              </a:rPr>
              <a:t>(c)</a:t>
            </a:r>
            <a:endParaRPr lang="en-US" sz="1500" dirty="0"/>
          </a:p>
        </p:txBody>
      </p:sp>
      <p:sp>
        <p:nvSpPr>
          <p:cNvPr id="12" name="Text 9"/>
          <p:cNvSpPr/>
          <p:nvPr/>
        </p:nvSpPr>
        <p:spPr>
          <a:xfrm>
            <a:off x="6995160" y="4709160"/>
            <a:ext cx="4507992" cy="11887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C8C8C8"/>
                </a:solidFill>
                <a:latin typeface="Cambria" pitchFamily="34" charset="0"/>
                <a:ea typeface="Cambria" pitchFamily="34" charset="-122"/>
                <a:cs typeface="Cambria" pitchFamily="34" charset="-120"/>
              </a:rPr>
              <a:t>Absolute error of the median forecast in level space, divided by the random walk's, per country, then median across countries.</a:t>
            </a:r>
            <a:endParaRPr lang="en-US" sz="1100" dirty="0"/>
          </a:p>
          <a:p>
            <a:pPr marL="342900" indent="-342900">
              <a:spcAft>
                <a:spcPts val="600"/>
              </a:spcAft>
              <a:buSzPct val="100000"/>
              <a:buChar char="•"/>
            </a:pPr>
            <a:r>
              <a:rPr lang="en-US" sz="1100" b="1" dirty="0">
                <a:solidFill>
                  <a:srgbClr val="FFFFFF"/>
                </a:solidFill>
                <a:latin typeface="Cambria" pitchFamily="34" charset="0"/>
                <a:ea typeface="Cambria" pitchFamily="34" charset="-122"/>
                <a:cs typeface="Cambria" pitchFamily="34" charset="-120"/>
              </a:rPr>
              <a:t>Ratio &lt; 1 means better than the random walk. RMSE ratio is defined the same way.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C0F"/>
        </a:solidFill>
      </p:bgPr>
    </p:bg>
    <p:spTree>
      <p:nvGrpSpPr>
        <p:cNvPr id="1" name=""/>
        <p:cNvGrpSpPr/>
        <p:nvPr/>
      </p:nvGrpSpPr>
      <p:grpSpPr>
        <a:xfrm>
          <a:off x="0" y="0"/>
          <a:ext cx="0" cy="0"/>
          <a:chOff x="0" y="0"/>
          <a:chExt cx="0" cy="0"/>
        </a:xfrm>
      </p:grpSpPr>
      <p:sp>
        <p:nvSpPr>
          <p:cNvPr id="2" name="Text 0"/>
          <p:cNvSpPr/>
          <p:nvPr/>
        </p:nvSpPr>
        <p:spPr>
          <a:xfrm>
            <a:off x="685800" y="365760"/>
            <a:ext cx="10820095" cy="5029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The conformal layer</a:t>
            </a:r>
            <a:endParaRPr lang="en-US" sz="2700" dirty="0"/>
          </a:p>
        </p:txBody>
      </p:sp>
      <p:sp>
        <p:nvSpPr>
          <p:cNvPr id="3" name="Text 1"/>
          <p:cNvSpPr/>
          <p:nvPr/>
        </p:nvSpPr>
        <p:spPr>
          <a:xfrm>
            <a:off x="685800" y="896112"/>
            <a:ext cx="10820095" cy="256032"/>
          </a:xfrm>
          <a:prstGeom prst="rect">
            <a:avLst/>
          </a:prstGeom>
          <a:noFill/>
          <a:ln/>
        </p:spPr>
        <p:txBody>
          <a:bodyPr wrap="square" lIns="0" tIns="0" rIns="0" bIns="0" rtlCol="0" anchor="ctr"/>
          <a:lstStyle/>
          <a:p>
            <a:pPr indent="0" marL="0">
              <a:buNone/>
            </a:pPr>
            <a:r>
              <a:rPr lang="en-US" sz="1050" dirty="0">
                <a:solidFill>
                  <a:srgbClr val="7A7F87"/>
                </a:solidFill>
                <a:latin typeface="Consolas" pitchFamily="34" charset="0"/>
                <a:ea typeface="Consolas" pitchFamily="34" charset="-122"/>
                <a:cs typeface="Consolas" pitchFamily="34" charset="-120"/>
              </a:rPr>
              <a:t>principle already known; this slide fixes what is actually run and what is not tuned</a:t>
            </a:r>
            <a:endParaRPr lang="en-US" sz="1050" dirty="0"/>
          </a:p>
        </p:txBody>
      </p:sp>
      <p:sp>
        <p:nvSpPr>
          <p:cNvPr id="4" name="Text 2"/>
          <p:cNvSpPr/>
          <p:nvPr/>
        </p:nvSpPr>
        <p:spPr>
          <a:xfrm>
            <a:off x="685800" y="1280160"/>
            <a:ext cx="10820095" cy="685800"/>
          </a:xfrm>
          <a:prstGeom prst="rect">
            <a:avLst/>
          </a:prstGeom>
          <a:noFill/>
          <a:ln/>
        </p:spPr>
        <p:txBody>
          <a:bodyPr wrap="square" lIns="0" tIns="0" rIns="0" bIns="0" rtlCol="0" anchor="t"/>
          <a:lstStyle/>
          <a:p>
            <a:pPr indent="0" marL="0">
              <a:buNone/>
            </a:pPr>
            <a:r>
              <a:rPr lang="en-US" sz="1200" dirty="0">
                <a:solidFill>
                  <a:srgbClr val="C8C8C8"/>
                </a:solidFill>
                <a:latin typeface="Cambria" pitchFamily="34" charset="0"/>
                <a:ea typeface="Cambria" pitchFamily="34" charset="-122"/>
                <a:cs typeface="Cambria" pitchFamily="34" charset="-120"/>
              </a:rPr>
              <a:t>The model's own quantiles are treated as non-binding. From the recent record of how far the realisation fell outside the interval, a correction is applied so that empirical coverage tracks 0.80. Distribution-free: no assumption on the error distribution. Formally a control loop, with the accumulated coverage error as the controlled variable and the interval width as the actuator.</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5800" y="2194560"/>
          <a:ext cx="10820095" cy="914400"/>
        </p:xfrm>
        <a:graphic>
          <a:graphicData uri="http://schemas.openxmlformats.org/drawingml/2006/table">
            <a:tbl>
              <a:tblPr/>
              <a:tblGrid>
                <a:gridCol w="1371600"/>
                <a:gridCol w="2880360"/>
                <a:gridCol w="411480"/>
                <a:gridCol w="4892040"/>
                <a:gridCol w="1261872"/>
              </a:tblGrid>
              <a:tr h="310896">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Class</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Methods</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n</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Guarantee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Pool-sensitive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310896">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Baseline</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native</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none — raw model quantiles, correction = 0</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no</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10896">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Static</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cqr_static</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finite-sample, under exchangeability</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no</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10896">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Windowed</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cqr_rolling, mondrian_cqr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finite-sample under weighted exchangeability</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58C4DD"/>
                          </a:solidFill>
                          <a:latin typeface="Cambria" pitchFamily="34" charset="0"/>
                          <a:ea typeface="Cambria" pitchFamily="34" charset="-122"/>
                          <a:cs typeface="Cambria" pitchFamily="34" charset="-120"/>
                        </a:rPr>
                        <a:t>yes</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10896">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ACI family</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aci, agaci, dtaci</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long-run coverage; adapts the effective α</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58C4DD"/>
                          </a:solidFill>
                          <a:latin typeface="Cambria" pitchFamily="34" charset="0"/>
                          <a:ea typeface="Cambria" pitchFamily="34" charset="-122"/>
                          <a:cs typeface="Cambria" pitchFamily="34" charset="-120"/>
                        </a:rPr>
                        <a:t>yes</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10896">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Score forecast</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spci</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long-run; predicts the next score by quantile forest</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58C4DD"/>
                          </a:solidFill>
                          <a:latin typeface="Cambria" pitchFamily="34" charset="0"/>
                          <a:ea typeface="Cambria" pitchFamily="34" charset="-122"/>
                          <a:cs typeface="Cambria" pitchFamily="34" charset="-120"/>
                        </a:rPr>
                        <a:t>yes</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10896">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Online control</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pid, pid_local, pid_tan</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long-run; controller on the coverage error</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no</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10896">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Online OCO</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sfogd, saocp, decay_ocp</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regret bounds, no exchangeability</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no</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85800" y="4846320"/>
          <a:ext cx="10820095" cy="914400"/>
        </p:xfrm>
        <a:graphic>
          <a:graphicData uri="http://schemas.openxmlformats.org/drawingml/2006/table">
            <a:tbl>
              <a:tblPr/>
              <a:tblGrid>
                <a:gridCol w="2377440"/>
                <a:gridCol w="8439912"/>
              </a:tblGrid>
              <a:tr h="338328">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Discipline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Detail</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338328">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One score for all</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1000" dirty="0">
                          <a:solidFill>
                            <a:srgbClr val="C8C8C8"/>
                          </a:solidFill>
                          <a:latin typeface="Cambria" pitchFamily="34" charset="0"/>
                          <a:ea typeface="Cambria" pitchFamily="34" charset="-122"/>
                          <a:cs typeface="Cambria" pitchFamily="34" charset="-120"/>
                        </a:rPr>
                        <a:t>the CQR score E = max(q̂_lo − y, y − q̂_hi), identical for every model and method</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38328">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Zero tuned parameters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1000" dirty="0">
                          <a:solidFill>
                            <a:srgbClr val="C8C8C8"/>
                          </a:solidFill>
                          <a:latin typeface="Cambria" pitchFamily="34" charset="0"/>
                          <a:ea typeface="Cambria" pitchFamily="34" charset="-122"/>
                          <a:cs typeface="Cambria" pitchFamily="34" charset="-120"/>
                        </a:rPr>
                        <a:t>every step size, window and gain is taken ex ante from the source paper; nothing is fitted on this data</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38328">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Layer is downstream</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1000" dirty="0">
                          <a:solidFill>
                            <a:srgbClr val="C8C8C8"/>
                          </a:solidFill>
                          <a:latin typeface="Cambria" pitchFamily="34" charset="0"/>
                          <a:ea typeface="Cambria" pitchFamily="34" charset="-122"/>
                          <a:cs typeface="Cambria" pitchFamily="34" charset="-120"/>
                        </a:rPr>
                        <a:t>the model notebooks emit raw quantiles and contain no calibration code, so interval differences trace back to the models</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38328">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Calibration pool</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1000" dirty="0">
                          <a:solidFill>
                            <a:srgbClr val="C8C8C8"/>
                          </a:solidFill>
                          <a:latin typeface="Cambria" pitchFamily="34" charset="0"/>
                          <a:ea typeface="Cambria" pitchFamily="34" charset="-122"/>
                          <a:cs typeface="Cambria" pitchFamily="34" charset="-120"/>
                        </a:rPr>
                        <a:t>rolling 36 months is primary; expanding, 24 and 48 are robustness variants and affect only the 6 pool-sensitive methods</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C0F"/>
        </a:solidFill>
      </p:bgPr>
    </p:bg>
    <p:spTree>
      <p:nvGrpSpPr>
        <p:cNvPr id="1" name=""/>
        <p:cNvGrpSpPr/>
        <p:nvPr/>
      </p:nvGrpSpPr>
      <p:grpSpPr>
        <a:xfrm>
          <a:off x="0" y="0"/>
          <a:ext cx="0" cy="0"/>
          <a:chOff x="0" y="0"/>
          <a:chExt cx="0" cy="0"/>
        </a:xfrm>
      </p:grpSpPr>
      <p:sp>
        <p:nvSpPr>
          <p:cNvPr id="2" name="Text 0"/>
          <p:cNvSpPr/>
          <p:nvPr/>
        </p:nvSpPr>
        <p:spPr>
          <a:xfrm>
            <a:off x="685800" y="365760"/>
            <a:ext cx="10820095" cy="5029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Point forecasts: no model beats the random walk</a:t>
            </a:r>
            <a:endParaRPr lang="en-US" sz="2700" dirty="0"/>
          </a:p>
        </p:txBody>
      </p:sp>
      <p:sp>
        <p:nvSpPr>
          <p:cNvPr id="3" name="Text 1"/>
          <p:cNvSpPr/>
          <p:nvPr/>
        </p:nvSpPr>
        <p:spPr>
          <a:xfrm>
            <a:off x="685800" y="896112"/>
            <a:ext cx="10820095" cy="256032"/>
          </a:xfrm>
          <a:prstGeom prst="rect">
            <a:avLst/>
          </a:prstGeom>
          <a:noFill/>
          <a:ln/>
        </p:spPr>
        <p:txBody>
          <a:bodyPr wrap="square" lIns="0" tIns="0" rIns="0" bIns="0" rtlCol="0" anchor="ctr"/>
          <a:lstStyle/>
          <a:p>
            <a:pPr indent="0" marL="0">
              <a:buNone/>
            </a:pPr>
            <a:r>
              <a:rPr lang="en-US" sz="1050" dirty="0">
                <a:solidFill>
                  <a:srgbClr val="7A7F87"/>
                </a:solidFill>
                <a:latin typeface="Consolas" pitchFamily="34" charset="0"/>
                <a:ea typeface="Consolas" pitchFamily="34" charset="-122"/>
                <a:cs typeface="Consolas" pitchFamily="34" charset="-120"/>
              </a:rPr>
              <a:t>MAE and RMSE ratios against rw, median across the ten countries · ratio &lt; 1 is better than rw</a:t>
            </a:r>
            <a:endParaRPr lang="en-US" sz="10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5800" y="1371600"/>
          <a:ext cx="6035040" cy="914400"/>
        </p:xfrm>
        <a:graphic>
          <a:graphicData uri="http://schemas.openxmlformats.org/drawingml/2006/table">
            <a:tbl>
              <a:tblPr/>
              <a:tblGrid>
                <a:gridCol w="1554480"/>
                <a:gridCol w="1143000"/>
                <a:gridCol w="1188720"/>
                <a:gridCol w="1234440"/>
                <a:gridCol w="914400"/>
              </a:tblGrid>
              <a:tr h="283464">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Model</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MAE ratio</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RMSE ratio</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Directional acc.</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PT rejections</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83464">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tirex2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58C4DD"/>
                          </a:solidFill>
                          <a:latin typeface="Consolas" pitchFamily="34" charset="0"/>
                          <a:ea typeface="Consolas" pitchFamily="34" charset="-122"/>
                          <a:cs typeface="Consolas" pitchFamily="34" charset="-120"/>
                        </a:rPr>
                        <a:t>0.997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58C4DD"/>
                          </a:solidFill>
                          <a:latin typeface="Consolas" pitchFamily="34" charset="0"/>
                          <a:ea typeface="Consolas" pitchFamily="34" charset="-122"/>
                          <a:cs typeface="Consolas" pitchFamily="34" charset="-120"/>
                        </a:rPr>
                        <a:t>0.999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0.555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0.10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83464">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rw</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1.000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1.000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0.578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83464">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tirex2_cov</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1.001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1.000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0.534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0.20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83464">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arma_monthly</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1.014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1.017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0.539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0.20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83464">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arma</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1.017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1.017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0.536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0.20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83464">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tirex</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1.020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1.017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0.539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0.10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83464">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lgbm_const</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1.057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1.041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0.536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0.05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83464">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lstm</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1.061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1.055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0.552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0.08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83464">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lgbm</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1.065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1.044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0.535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0.03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83464">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lstm_const</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1.067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1.057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0.555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0.08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83464">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xlstm_const</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1.093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1.074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0.530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0.06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83464">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xlstm</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1.104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1.080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0.522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0.06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5" name="Text 2"/>
          <p:cNvSpPr/>
          <p:nvPr/>
        </p:nvSpPr>
        <p:spPr>
          <a:xfrm>
            <a:off x="7132320" y="1371600"/>
            <a:ext cx="4370832"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WHAT THE COLUMNS ARE</a:t>
            </a:r>
            <a:endParaRPr lang="en-US" sz="10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7132320" y="1627632"/>
          <a:ext cx="4370832" cy="914400"/>
        </p:xfrm>
        <a:graphic>
          <a:graphicData uri="http://schemas.openxmlformats.org/drawingml/2006/table">
            <a:tbl>
              <a:tblPr/>
              <a:tblGrid>
                <a:gridCol w="1234440"/>
                <a:gridCol w="3136392"/>
              </a:tblGrid>
              <a:tr h="384048">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Column</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Definition</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384048">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MAE ratio</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C8C8C8"/>
                          </a:solidFill>
                          <a:latin typeface="Cambria" pitchFamily="34" charset="0"/>
                          <a:ea typeface="Cambria" pitchFamily="34" charset="-122"/>
                          <a:cs typeface="Cambria" pitchFamily="34" charset="-120"/>
                        </a:rPr>
                        <a:t>mean absolute error of the model's median forecast divided by that of rw, per country, then median</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84048">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RMSE ratio</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C8C8C8"/>
                          </a:solidFill>
                          <a:latin typeface="Cambria" pitchFamily="34" charset="0"/>
                          <a:ea typeface="Cambria" pitchFamily="34" charset="-122"/>
                          <a:cs typeface="Cambria" pitchFamily="34" charset="-120"/>
                        </a:rPr>
                        <a:t>same construction on squared errors</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84048">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Directional acc.</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C8C8C8"/>
                          </a:solidFill>
                          <a:latin typeface="Cambria" pitchFamily="34" charset="0"/>
                          <a:ea typeface="Cambria" pitchFamily="34" charset="-122"/>
                          <a:cs typeface="Cambria" pitchFamily="34" charset="-120"/>
                        </a:rPr>
                        <a:t>share of months in which the sign of the forecast Δ matches the realised Δ</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84048">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PT rejections</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C8C8C8"/>
                          </a:solidFill>
                          <a:latin typeface="Cambria" pitchFamily="34" charset="0"/>
                          <a:ea typeface="Cambria" pitchFamily="34" charset="-122"/>
                          <a:cs typeface="Cambria" pitchFamily="34" charset="-120"/>
                        </a:rPr>
                        <a:t>share of the model's cells in which the Pesaran–Timmermann test rejects at 5 %</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7" name="Text 3"/>
          <p:cNvSpPr/>
          <p:nvPr/>
        </p:nvSpPr>
        <p:spPr>
          <a:xfrm>
            <a:off x="7132320" y="3520440"/>
            <a:ext cx="4370832"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IS THE 0.35 % LEAD OF tirex2 REAL?</a:t>
            </a:r>
            <a:endParaRPr lang="en-US" sz="1000" dirty="0"/>
          </a:p>
        </p:txBody>
      </p:sp>
      <p:graphicFrame>
        <p:nvGraphicFramePr>
          <p:cNvPr id="31" name="Table 2"/>
          <p:cNvGraphicFramePr>
            <a:graphicFrameLocks noGrp="1"/>
          </p:cNvGraphicFramePr>
          <p:nvPr>
            <p:extLst>
              <p:ext uri="{D42A27DB-BD31-4B8C-83A1-F6EECF244321}">
                <p14:modId xmlns:p14="http://schemas.microsoft.com/office/powerpoint/2010/main" val="1579011935"/>
              </p:ext>
            </p:extLst>
          </p:nvPr>
        </p:nvGraphicFramePr>
        <p:xfrm>
          <a:off x="7132320" y="3776472"/>
          <a:ext cx="4370832" cy="914400"/>
        </p:xfrm>
        <a:graphic>
          <a:graphicData uri="http://schemas.openxmlformats.org/drawingml/2006/table">
            <a:tbl>
              <a:tblPr/>
              <a:tblGrid>
                <a:gridCol w="3017520"/>
                <a:gridCol w="1353312"/>
              </a:tblGrid>
              <a:tr h="265176">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Test</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Result</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65176">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DM/HLN, tirex2 vs rw, panel-t</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50" dirty="0">
                          <a:solidFill>
                            <a:srgbClr val="FC6255"/>
                          </a:solidFill>
                          <a:latin typeface="Consolas" pitchFamily="34" charset="0"/>
                          <a:ea typeface="Consolas" pitchFamily="34" charset="-122"/>
                          <a:cs typeface="Consolas" pitchFamily="34" charset="-120"/>
                        </a:rPr>
                        <a:t>−0.498</a:t>
                      </a:r>
                      <a:endParaRPr lang="en-US" sz="9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Countries with q &lt; 0.10</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50" dirty="0">
                          <a:solidFill>
                            <a:srgbClr val="C8C8C8"/>
                          </a:solidFill>
                          <a:latin typeface="Consolas" pitchFamily="34" charset="0"/>
                          <a:ea typeface="Consolas" pitchFamily="34" charset="-122"/>
                          <a:cs typeface="Consolas" pitchFamily="34" charset="-120"/>
                        </a:rPr>
                        <a:t>0 of 10</a:t>
                      </a:r>
                      <a:endParaRPr lang="en-US" sz="9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Countries with MAE ratio &lt; 1</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50" dirty="0">
                          <a:solidFill>
                            <a:srgbClr val="C8C8C8"/>
                          </a:solidFill>
                          <a:latin typeface="Consolas" pitchFamily="34" charset="0"/>
                          <a:ea typeface="Consolas" pitchFamily="34" charset="-122"/>
                          <a:cs typeface="Consolas" pitchFamily="34" charset="-120"/>
                        </a:rPr>
                        <a:t>5 of 10</a:t>
                      </a:r>
                      <a:endParaRPr lang="en-US" sz="9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Control: arma vs rw, panel-t</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50" dirty="0">
                          <a:solidFill>
                            <a:srgbClr val="C8C8C8"/>
                          </a:solidFill>
                          <a:latin typeface="Consolas" pitchFamily="34" charset="0"/>
                          <a:ea typeface="Consolas" pitchFamily="34" charset="-122"/>
                          <a:cs typeface="Consolas" pitchFamily="34" charset="-120"/>
                        </a:rPr>
                        <a:t>+2.447</a:t>
                      </a:r>
                      <a:endParaRPr lang="en-US" sz="9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Control: smallest q (FI)</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50" dirty="0">
                          <a:solidFill>
                            <a:srgbClr val="C8C8C8"/>
                          </a:solidFill>
                          <a:latin typeface="Consolas" pitchFamily="34" charset="0"/>
                          <a:ea typeface="Consolas" pitchFamily="34" charset="-122"/>
                          <a:cs typeface="Consolas" pitchFamily="34" charset="-120"/>
                        </a:rPr>
                        <a:t>0.0040</a:t>
                      </a:r>
                      <a:endParaRPr lang="en-US" sz="9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9" name="Text 4"/>
          <p:cNvSpPr/>
          <p:nvPr/>
        </p:nvSpPr>
        <p:spPr>
          <a:xfrm>
            <a:off x="685800" y="5440680"/>
            <a:ext cx="10820095" cy="960120"/>
          </a:xfrm>
          <a:prstGeom prst="rect">
            <a:avLst/>
          </a:prstGeom>
          <a:noFill/>
          <a:ln/>
        </p:spPr>
        <p:txBody>
          <a:bodyPr wrap="square" lIns="0" tIns="0" rIns="0" bIns="0" rtlCol="0" anchor="t"/>
          <a:lstStyle/>
          <a:p>
            <a:pPr indent="0" marL="0">
              <a:buNone/>
            </a:pPr>
            <a:r>
              <a:rPr lang="en-US" sz="1050" dirty="0">
                <a:solidFill>
                  <a:srgbClr val="C8C8C8"/>
                </a:solidFill>
                <a:latin typeface="Cambria" pitchFamily="34" charset="0"/>
                <a:ea typeface="Cambria" pitchFamily="34" charset="-122"/>
                <a:cs typeface="Cambria" pitchFamily="34" charset="-120"/>
              </a:rPr>
              <a:t>The control matters: the same procedure detects arma as significantly worse than rw, so the test has power on this sample. It finds no difference for tirex2 because there is none. Directional accuracy averages 0.540 over all cells and PT rejects in 7.2 % of them, against 5 % expected under independence. The rw figure of 0.578 is an artefact: its Δ-forecast is constant zero, which makes the PT denominator zero and the test undefined in 90 % of its cells.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C0F"/>
        </a:solidFill>
      </p:bgPr>
    </p:bg>
    <p:spTree>
      <p:nvGrpSpPr>
        <p:cNvPr id="1" name=""/>
        <p:cNvGrpSpPr/>
        <p:nvPr/>
      </p:nvGrpSpPr>
      <p:grpSpPr>
        <a:xfrm>
          <a:off x="0" y="0"/>
          <a:ext cx="0" cy="0"/>
          <a:chOff x="0" y="0"/>
          <a:chExt cx="0" cy="0"/>
        </a:xfrm>
      </p:grpSpPr>
      <p:sp>
        <p:nvSpPr>
          <p:cNvPr id="2" name="Text 0"/>
          <p:cNvSpPr/>
          <p:nvPr/>
        </p:nvSpPr>
        <p:spPr>
          <a:xfrm>
            <a:off x="685800" y="365760"/>
            <a:ext cx="10820095" cy="5029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Raw model quantiles are too wide and rarely valid</a:t>
            </a:r>
            <a:endParaRPr lang="en-US" sz="2700" dirty="0"/>
          </a:p>
        </p:txBody>
      </p:sp>
      <p:sp>
        <p:nvSpPr>
          <p:cNvPr id="3" name="Text 1"/>
          <p:cNvSpPr/>
          <p:nvPr/>
        </p:nvSpPr>
        <p:spPr>
          <a:xfrm>
            <a:off x="685800" y="896112"/>
            <a:ext cx="10820095" cy="256032"/>
          </a:xfrm>
          <a:prstGeom prst="rect">
            <a:avLst/>
          </a:prstGeom>
          <a:noFill/>
          <a:ln/>
        </p:spPr>
        <p:txBody>
          <a:bodyPr wrap="square" lIns="0" tIns="0" rIns="0" bIns="0" rtlCol="0" anchor="ctr"/>
          <a:lstStyle/>
          <a:p>
            <a:pPr indent="0" marL="0">
              <a:buNone/>
            </a:pPr>
            <a:r>
              <a:rPr lang="en-US" sz="1050" dirty="0">
                <a:solidFill>
                  <a:srgbClr val="7A7F87"/>
                </a:solidFill>
                <a:latin typeface="Consolas" pitchFamily="34" charset="0"/>
                <a:ea typeface="Consolas" pitchFamily="34" charset="-122"/>
                <a:cs typeface="Consolas" pitchFamily="34" charset="-120"/>
              </a:rPr>
              <a:t>admissible share, mean coverage and DQ rejection rate by recalibration method · target coverage 0.80</a:t>
            </a:r>
            <a:endParaRPr lang="en-US" sz="10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85800" y="1371600"/>
          <a:ext cx="5760720" cy="914400"/>
        </p:xfrm>
        <a:graphic>
          <a:graphicData uri="http://schemas.openxmlformats.org/drawingml/2006/table">
            <a:tbl>
              <a:tblPr/>
              <a:tblGrid>
                <a:gridCol w="1691640"/>
                <a:gridCol w="1508760"/>
                <a:gridCol w="1371600"/>
                <a:gridCol w="1188720"/>
              </a:tblGrid>
              <a:tr h="269748">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Method</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Admissible share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Mean coverage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DQ rejection</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69748">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dtaci_cqr</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58C4DD"/>
                          </a:solidFill>
                          <a:latin typeface="Consolas" pitchFamily="34" charset="0"/>
                          <a:ea typeface="Consolas" pitchFamily="34" charset="-122"/>
                          <a:cs typeface="Consolas" pitchFamily="34" charset="-120"/>
                        </a:rPr>
                        <a:t>1.000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0.822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0.300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9748">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pid_cqr</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58C4DD"/>
                          </a:solidFill>
                          <a:latin typeface="Consolas" pitchFamily="34" charset="0"/>
                          <a:ea typeface="Consolas" pitchFamily="34" charset="-122"/>
                          <a:cs typeface="Consolas" pitchFamily="34" charset="-120"/>
                        </a:rPr>
                        <a:t>1.000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0.813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0.304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9748">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pid_local_cqr</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58C4DD"/>
                          </a:solidFill>
                          <a:latin typeface="Consolas" pitchFamily="34" charset="0"/>
                          <a:ea typeface="Consolas" pitchFamily="34" charset="-122"/>
                          <a:cs typeface="Consolas" pitchFamily="34" charset="-120"/>
                        </a:rPr>
                        <a:t>1.000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0.814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0.458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9748">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sfogd_cqr</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58C4DD"/>
                          </a:solidFill>
                          <a:latin typeface="Consolas" pitchFamily="34" charset="0"/>
                          <a:ea typeface="Consolas" pitchFamily="34" charset="-122"/>
                          <a:cs typeface="Consolas" pitchFamily="34" charset="-120"/>
                        </a:rPr>
                        <a:t>1.000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0.806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0.632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9748">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spci_cqr</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58C4DD"/>
                          </a:solidFill>
                          <a:latin typeface="Consolas" pitchFamily="34" charset="0"/>
                          <a:ea typeface="Consolas" pitchFamily="34" charset="-122"/>
                          <a:cs typeface="Consolas" pitchFamily="34" charset="-120"/>
                        </a:rPr>
                        <a:t>1.000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0.769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0.666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9748">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agaci_cqr</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58C4DD"/>
                          </a:solidFill>
                          <a:latin typeface="Consolas" pitchFamily="34" charset="0"/>
                          <a:ea typeface="Consolas" pitchFamily="34" charset="-122"/>
                          <a:cs typeface="Consolas" pitchFamily="34" charset="-120"/>
                        </a:rPr>
                        <a:t>0.981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0.811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0.345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9748">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aci_cqr</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58C4DD"/>
                          </a:solidFill>
                          <a:latin typeface="Consolas" pitchFamily="34" charset="0"/>
                          <a:ea typeface="Consolas" pitchFamily="34" charset="-122"/>
                          <a:cs typeface="Consolas" pitchFamily="34" charset="-120"/>
                        </a:rPr>
                        <a:t>0.962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0.815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0.377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9748">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cqr_rolling</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58C4DD"/>
                          </a:solidFill>
                          <a:latin typeface="Consolas" pitchFamily="34" charset="0"/>
                          <a:ea typeface="Consolas" pitchFamily="34" charset="-122"/>
                          <a:cs typeface="Consolas" pitchFamily="34" charset="-120"/>
                        </a:rPr>
                        <a:t>0.906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0.823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0.368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9748">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mondrian_cqr</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0.604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0.860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0.291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9748">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pid_tan_cqr</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0.283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0.824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0.938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9748">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decay_ocp_cqr</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0.208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0.873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0.525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9748">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native</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0.132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0.872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0.562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9748">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cqr_static</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0.057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0.859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0.617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9748">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saocp_cqr</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0.019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0.917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0.523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5" name="Text 2"/>
          <p:cNvSpPr/>
          <p:nvPr/>
        </p:nvSpPr>
        <p:spPr>
          <a:xfrm>
            <a:off x="6858000" y="1371600"/>
            <a:ext cx="4645152"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HEADLINE FIGURES</a:t>
            </a:r>
            <a:endParaRPr lang="en-US" sz="10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858000" y="1627632"/>
          <a:ext cx="4645152" cy="914400"/>
        </p:xfrm>
        <a:graphic>
          <a:graphicData uri="http://schemas.openxmlformats.org/drawingml/2006/table">
            <a:tbl>
              <a:tblPr/>
              <a:tblGrid>
                <a:gridCol w="2468880"/>
                <a:gridCol w="2176272"/>
              </a:tblGrid>
              <a:tr h="265176">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Quantity</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Value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65176">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Admissible combinations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485 of 742  (65.4 %)</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Gate rate of native quantiles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0.132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Mean coverage of native</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0.872  vs target 0.800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Methods at a gate rate of 1.000</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5 of 14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Hardest countries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GR 0.519,  PT 0.616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Easiest countries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FR 0.864,  FI 0.844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7" name="Text 3"/>
          <p:cNvSpPr/>
          <p:nvPr/>
        </p:nvSpPr>
        <p:spPr>
          <a:xfrm>
            <a:off x="6858000" y="3611880"/>
            <a:ext cx="4645152" cy="914400"/>
          </a:xfrm>
          <a:prstGeom prst="rect">
            <a:avLst/>
          </a:prstGeom>
          <a:noFill/>
          <a:ln/>
        </p:spPr>
        <p:txBody>
          <a:bodyPr wrap="square" lIns="0" tIns="0" rIns="0" bIns="0" rtlCol="0" anchor="t"/>
          <a:lstStyle/>
          <a:p>
            <a:pPr indent="0" marL="0">
              <a:buNone/>
            </a:pPr>
            <a:r>
              <a:rPr lang="en-US" sz="1100" dirty="0">
                <a:solidFill>
                  <a:srgbClr val="C8C8C8"/>
                </a:solidFill>
                <a:latin typeface="Cambria" pitchFamily="34" charset="0"/>
                <a:ea typeface="Cambria" pitchFamily="34" charset="-122"/>
                <a:cs typeface="Cambria" pitchFamily="34" charset="-120"/>
              </a:rPr>
              <a:t>The direction of the miscalibration is over-coverage, not under-coverage: 0.872 against a target of 0.800. The models are too conservative rather than too optimistic, so their intervals are unnecessarily wide. Width is what the capital proxy on slide 17 measures.</a:t>
            </a:r>
            <a:endParaRPr lang="en-US" sz="1100" dirty="0"/>
          </a:p>
        </p:txBody>
      </p:sp>
      <p:sp>
        <p:nvSpPr>
          <p:cNvPr id="8" name="Text 4"/>
          <p:cNvSpPr/>
          <p:nvPr/>
        </p:nvSpPr>
        <p:spPr>
          <a:xfrm>
            <a:off x="6858000" y="4526280"/>
            <a:ext cx="4645152"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WHY DQ IS NOT USED AS A GATE</a:t>
            </a:r>
            <a:endParaRPr lang="en-US" sz="1000" dirty="0"/>
          </a:p>
        </p:txBody>
      </p:sp>
      <p:graphicFrame>
        <p:nvGraphicFramePr>
          <p:cNvPr id="34" name="Table 2"/>
          <p:cNvGraphicFramePr>
            <a:graphicFrameLocks noGrp="1"/>
          </p:cNvGraphicFramePr>
          <p:nvPr>
            <p:extLst>
              <p:ext uri="{D42A27DB-BD31-4B8C-83A1-F6EECF244321}">
                <p14:modId xmlns:p14="http://schemas.microsoft.com/office/powerpoint/2010/main" val="1579011935"/>
              </p:ext>
            </p:extLst>
          </p:nvPr>
        </p:nvGraphicFramePr>
        <p:xfrm>
          <a:off x="6858000" y="4782312"/>
          <a:ext cx="4645152" cy="914400"/>
        </p:xfrm>
        <a:graphic>
          <a:graphicData uri="http://schemas.openxmlformats.org/drawingml/2006/table">
            <a:tbl>
              <a:tblPr/>
              <a:tblGrid>
                <a:gridCol w="3108960"/>
                <a:gridCol w="1536192"/>
              </a:tblGrid>
              <a:tr h="265176">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Specification</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Rejection at q &lt; 0.10</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65176">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Full: constant, 4 lags, width</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0.493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Without the width regressor</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0.208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Width regressor only</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0.689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10" name="Text 5"/>
          <p:cNvSpPr/>
          <p:nvPr/>
        </p:nvSpPr>
        <p:spPr>
          <a:xfrm>
            <a:off x="685800" y="5806440"/>
            <a:ext cx="10820095" cy="777240"/>
          </a:xfrm>
          <a:prstGeom prst="rect">
            <a:avLst/>
          </a:prstGeom>
          <a:noFill/>
          <a:ln/>
        </p:spPr>
        <p:txBody>
          <a:bodyPr wrap="square" lIns="0" tIns="0" rIns="0" bIns="0" rtlCol="0" anchor="t"/>
          <a:lstStyle/>
          <a:p>
            <a:pPr indent="0" marL="0">
              <a:buNone/>
            </a:pPr>
            <a:r>
              <a:rPr lang="en-US" sz="1050" dirty="0">
                <a:solidFill>
                  <a:srgbClr val="C8C8C8"/>
                </a:solidFill>
                <a:latin typeface="Cambria" pitchFamily="34" charset="0"/>
                <a:ea typeface="Cambria" pitchFamily="34" charset="-122"/>
                <a:cs typeface="Cambria" pitchFamily="34" charset="-120"/>
              </a:rPr>
              <a:t>Removing the width regressor drops DQ rejection from 0.493 to 0.208, essentially the unconditional level, so the rejections are a width phenomenon and not a clustering one. Of the significant width coefficients, 99.9 % are negative (median −1.631): the width control moves in the right direction but overshoots in both, and marginal coverage averages back to 0.80. The conformal layer trades temporal dependence of violations for width-conditional dependence.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C0F"/>
        </a:solidFill>
      </p:bgPr>
    </p:bg>
    <p:spTree>
      <p:nvGrpSpPr>
        <p:cNvPr id="1" name=""/>
        <p:cNvGrpSpPr/>
        <p:nvPr/>
      </p:nvGrpSpPr>
      <p:grpSpPr>
        <a:xfrm>
          <a:off x="0" y="0"/>
          <a:ext cx="0" cy="0"/>
          <a:chOff x="0" y="0"/>
          <a:chExt cx="0" cy="0"/>
        </a:xfrm>
      </p:grpSpPr>
      <p:sp>
        <p:nvSpPr>
          <p:cNvPr id="2" name="Text 0"/>
          <p:cNvSpPr/>
          <p:nvPr/>
        </p:nvSpPr>
        <p:spPr>
          <a:xfrm>
            <a:off x="685800" y="365760"/>
            <a:ext cx="10820095" cy="5029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Interval quality: the best package per model family</a:t>
            </a:r>
            <a:endParaRPr lang="en-US" sz="2700" dirty="0"/>
          </a:p>
        </p:txBody>
      </p:sp>
      <p:sp>
        <p:nvSpPr>
          <p:cNvPr id="3" name="Text 1"/>
          <p:cNvSpPr/>
          <p:nvPr/>
        </p:nvSpPr>
        <p:spPr>
          <a:xfrm>
            <a:off x="685800" y="896112"/>
            <a:ext cx="10820095" cy="256032"/>
          </a:xfrm>
          <a:prstGeom prst="rect">
            <a:avLst/>
          </a:prstGeom>
          <a:noFill/>
          <a:ln/>
        </p:spPr>
        <p:txBody>
          <a:bodyPr wrap="square" lIns="0" tIns="0" rIns="0" bIns="0" rtlCol="0" anchor="ctr"/>
          <a:lstStyle/>
          <a:p>
            <a:pPr indent="0" marL="0">
              <a:buNone/>
            </a:pPr>
            <a:r>
              <a:rPr lang="en-US" sz="1050" dirty="0">
                <a:solidFill>
                  <a:srgbClr val="7A7F87"/>
                </a:solidFill>
                <a:latin typeface="Consolas" pitchFamily="34" charset="0"/>
                <a:ea typeface="Consolas" pitchFamily="34" charset="-122"/>
                <a:cs typeface="Consolas" pitchFamily="34" charset="-120"/>
              </a:rPr>
              <a:t>median Winkler skill against rw/L/native · skill &gt; 0 is better than the random walk</a:t>
            </a:r>
            <a:endParaRPr lang="en-US" sz="10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85800" y="1371600"/>
          <a:ext cx="5943600" cy="914400"/>
        </p:xfrm>
        <a:graphic>
          <a:graphicData uri="http://schemas.openxmlformats.org/drawingml/2006/table">
            <a:tbl>
              <a:tblPr/>
              <a:tblGrid>
                <a:gridCol w="1371600"/>
                <a:gridCol w="1783080"/>
                <a:gridCol w="914400"/>
                <a:gridCol w="1005840"/>
                <a:gridCol w="868680"/>
              </a:tblGrid>
              <a:tr h="269748">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Model</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Regime / method</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Skill</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Coverage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Adm. countries</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69748">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tirex2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ZS / cqr_static</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58C4DD"/>
                          </a:solidFill>
                          <a:latin typeface="Consolas" pitchFamily="34" charset="0"/>
                          <a:ea typeface="Consolas" pitchFamily="34" charset="-122"/>
                          <a:cs typeface="Consolas" pitchFamily="34" charset="-120"/>
                        </a:rPr>
                        <a:t>0.146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0.750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8/10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9748">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tirex2_cov</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ZS / native</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0.141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0.839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8/10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9748">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lgbm</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G / decay_ocp_cqr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0.139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0.824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7/10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9748">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tirex</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ZS / native</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0.133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0.813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10/10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9748">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lstm_const</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G / agaci_cqr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0.111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0.798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10/10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9748">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lgbm_const</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G / cqr_rolling</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0.099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0.829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10/10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9748">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xlstm</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L / native</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0.094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0.817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7/10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9748">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rw</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L / aci_cqr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0.085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0.812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10/10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9748">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xlstm_const</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L / spci_cqr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0.072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0.756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10/10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9748">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lstm</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L / pid_cqr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0.062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0.810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10/10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9748">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arma_monthly</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L / dtaci_cqr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0.061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0.809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10/10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9748">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arma</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L / dtaci_cqr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0.058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0.813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10/10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5" name="Text 2"/>
          <p:cNvSpPr/>
          <p:nvPr/>
        </p:nvSpPr>
        <p:spPr>
          <a:xfrm>
            <a:off x="7040880" y="1371600"/>
            <a:ext cx="4462272"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tirex2 / ZS ACROSS ALL 14 METHODS</a:t>
            </a:r>
            <a:endParaRPr lang="en-US" sz="100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7040880" y="1627632"/>
          <a:ext cx="4462272" cy="914400"/>
        </p:xfrm>
        <a:graphic>
          <a:graphicData uri="http://schemas.openxmlformats.org/drawingml/2006/table">
            <a:tbl>
              <a:tblPr/>
              <a:tblGrid>
                <a:gridCol w="1691640"/>
                <a:gridCol w="914400"/>
                <a:gridCol w="914400"/>
                <a:gridCol w="941832"/>
              </a:tblGrid>
              <a:tr h="212141">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Method</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Skill</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Cov.</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Adm.</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12141">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cqr_static</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58C4DD"/>
                          </a:solidFill>
                          <a:latin typeface="Consolas" pitchFamily="34" charset="0"/>
                          <a:ea typeface="Consolas" pitchFamily="34" charset="-122"/>
                          <a:cs typeface="Consolas" pitchFamily="34" charset="-120"/>
                        </a:rPr>
                        <a:t>0.146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0.750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8/10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decay_ocp_cqr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58C4DD"/>
                          </a:solidFill>
                          <a:latin typeface="Consolas" pitchFamily="34" charset="0"/>
                          <a:ea typeface="Consolas" pitchFamily="34" charset="-122"/>
                          <a:cs typeface="Consolas" pitchFamily="34" charset="-120"/>
                        </a:rPr>
                        <a:t>0.144</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0.787</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10/10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native</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0.142</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0.855</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7/10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cqr_rolling</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0.132</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0.794</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10/10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agaci_cqr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0.126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0.797</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10/10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aci_cqr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0.121</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0.799</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10/10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dtaci_cqr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0.120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0.806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10/10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pid_cqr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0.116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0.800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10/10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spci_cqr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0.080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0.762</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10/10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pid_local_cqr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0.046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0.802</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10/10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mondrian_cqr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0.035</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0.856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9/10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sfogd_cqr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0.017</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0.801</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8/10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saocp_cqr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0.012</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0.894</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3/10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pid_tan_cqr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−0.044</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0.810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6/10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7" name="Text 3"/>
          <p:cNvSpPr/>
          <p:nvPr/>
        </p:nvSpPr>
        <p:spPr>
          <a:xfrm>
            <a:off x="685800" y="4983480"/>
            <a:ext cx="10820095"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THE LEADING PACKAGE AND ITS ROBUST ALTERNATIVE</a:t>
            </a:r>
            <a:endParaRPr lang="en-US" sz="1000" dirty="0"/>
          </a:p>
        </p:txBody>
      </p:sp>
      <p:graphicFrame>
        <p:nvGraphicFramePr>
          <p:cNvPr id="37" name="Table 2"/>
          <p:cNvGraphicFramePr>
            <a:graphicFrameLocks noGrp="1"/>
          </p:cNvGraphicFramePr>
          <p:nvPr>
            <p:extLst>
              <p:ext uri="{D42A27DB-BD31-4B8C-83A1-F6EECF244321}">
                <p14:modId xmlns:p14="http://schemas.microsoft.com/office/powerpoint/2010/main" val="1579011935"/>
              </p:ext>
            </p:extLst>
          </p:nvPr>
        </p:nvGraphicFramePr>
        <p:xfrm>
          <a:off x="685800" y="5239512"/>
          <a:ext cx="10820095" cy="914400"/>
        </p:xfrm>
        <a:graphic>
          <a:graphicData uri="http://schemas.openxmlformats.org/drawingml/2006/table">
            <a:tbl>
              <a:tblPr/>
              <a:tblGrid>
                <a:gridCol w="2286000"/>
                <a:gridCol w="685800"/>
                <a:gridCol w="914400"/>
                <a:gridCol w="640080"/>
                <a:gridCol w="1051560"/>
                <a:gridCol w="5239512"/>
              </a:tblGrid>
              <a:tr h="411480">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Package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Skill</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Coverage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Adm.</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Crossing rate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Assessment</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411480">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tirex2/ZS/cqr_static</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58C4DD"/>
                          </a:solidFill>
                          <a:latin typeface="Consolas" pitchFamily="34" charset="0"/>
                          <a:ea typeface="Consolas" pitchFamily="34" charset="-122"/>
                          <a:cs typeface="Consolas" pitchFamily="34" charset="-120"/>
                        </a:rPr>
                        <a:t>0.146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0.750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8/10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0.724 %</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C8C8C8"/>
                          </a:solidFill>
                          <a:latin typeface="Cambria" pitchFamily="34" charset="0"/>
                          <a:ea typeface="Cambria" pitchFamily="34" charset="-122"/>
                          <a:cs typeface="Cambria" pitchFamily="34" charset="-120"/>
                        </a:rPr>
                        <a:t>highest skill; undercovers by 5.0 pp, fails the gate in two countries, crosses in extreme cases up to 77.95 %</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411480">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tirex2/ZS/decay_ocp_cqr</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0.144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0.787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10/10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0.028 %</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C8C8C8"/>
                          </a:solidFill>
                          <a:latin typeface="Cambria" pitchFamily="34" charset="0"/>
                          <a:ea typeface="Cambria" pitchFamily="34" charset="-122"/>
                          <a:cs typeface="Cambria" pitchFamily="34" charset="-120"/>
                        </a:rPr>
                        <a:t>0.002 lower skill; within 1.3 pp of target, valid everywhere, no crossing problem</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C0F"/>
        </a:solidFill>
      </p:bgPr>
    </p:bg>
    <p:spTree>
      <p:nvGrpSpPr>
        <p:cNvPr id="1" name=""/>
        <p:cNvGrpSpPr/>
        <p:nvPr/>
      </p:nvGrpSpPr>
      <p:grpSpPr>
        <a:xfrm>
          <a:off x="0" y="0"/>
          <a:ext cx="0" cy="0"/>
          <a:chOff x="0" y="0"/>
          <a:chExt cx="0" cy="0"/>
        </a:xfrm>
      </p:grpSpPr>
      <p:sp>
        <p:nvSpPr>
          <p:cNvPr id="2" name="Text 0"/>
          <p:cNvSpPr/>
          <p:nvPr/>
        </p:nvSpPr>
        <p:spPr>
          <a:xfrm>
            <a:off x="685800" y="365760"/>
            <a:ext cx="10820095" cy="5029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The namesake architecture is the weakest family</a:t>
            </a:r>
            <a:endParaRPr lang="en-US" sz="2700" dirty="0"/>
          </a:p>
        </p:txBody>
      </p:sp>
      <p:sp>
        <p:nvSpPr>
          <p:cNvPr id="3" name="Text 1"/>
          <p:cNvSpPr/>
          <p:nvPr/>
        </p:nvSpPr>
        <p:spPr>
          <a:xfrm>
            <a:off x="685800" y="896112"/>
            <a:ext cx="10820095" cy="256032"/>
          </a:xfrm>
          <a:prstGeom prst="rect">
            <a:avLst/>
          </a:prstGeom>
          <a:noFill/>
          <a:ln/>
        </p:spPr>
        <p:txBody>
          <a:bodyPr wrap="square" lIns="0" tIns="0" rIns="0" bIns="0" rtlCol="0" anchor="ctr"/>
          <a:lstStyle/>
          <a:p>
            <a:pPr indent="0" marL="0">
              <a:buNone/>
            </a:pPr>
            <a:r>
              <a:rPr lang="en-US" sz="1050" dirty="0">
                <a:solidFill>
                  <a:srgbClr val="7A7F87"/>
                </a:solidFill>
                <a:latin typeface="Consolas" pitchFamily="34" charset="0"/>
                <a:ea typeface="Consolas" pitchFamily="34" charset="-122"/>
                <a:cs typeface="Consolas" pitchFamily="34" charset="-120"/>
              </a:rPr>
              <a:t>xLSTM, reported as measured</a:t>
            </a:r>
            <a:endParaRPr lang="en-US" sz="1050" dirty="0"/>
          </a:p>
        </p:txBody>
      </p:sp>
      <p:sp>
        <p:nvSpPr>
          <p:cNvPr id="4" name="Text 2"/>
          <p:cNvSpPr/>
          <p:nvPr/>
        </p:nvSpPr>
        <p:spPr>
          <a:xfrm>
            <a:off x="685800" y="1298448"/>
            <a:ext cx="5486400"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FAMILY-LEVEL POSITION</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85800" y="1554480"/>
          <a:ext cx="5486400" cy="914400"/>
        </p:xfrm>
        <a:graphic>
          <a:graphicData uri="http://schemas.openxmlformats.org/drawingml/2006/table">
            <a:tbl>
              <a:tblPr/>
              <a:tblGrid>
                <a:gridCol w="3063240"/>
                <a:gridCol w="2423160"/>
              </a:tblGrid>
              <a:tr h="265176">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Quantity</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Value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65176">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Median skill over all its combinations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−0.047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Rank among the twelve families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12 of 12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Best admissible package</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xlstm / L / native</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Its skill</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0.094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Recalibration method used</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native — no gain from the CP layer</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Best package in the GI regime</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−0.042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6" name="Text 3"/>
          <p:cNvSpPr/>
          <p:nvPr/>
        </p:nvSpPr>
        <p:spPr>
          <a:xfrm>
            <a:off x="685800" y="3493008"/>
            <a:ext cx="5486400"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THE REPORTED PACKAGE, BY SEED</a:t>
            </a:r>
            <a:endParaRPr lang="en-US" sz="100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685800" y="3749040"/>
          <a:ext cx="5486400" cy="914400"/>
        </p:xfrm>
        <a:graphic>
          <a:graphicData uri="http://schemas.openxmlformats.org/drawingml/2006/table">
            <a:tbl>
              <a:tblPr/>
              <a:tblGrid>
                <a:gridCol w="1097280"/>
                <a:gridCol w="1463040"/>
                <a:gridCol w="1600200"/>
                <a:gridCol w="1325880"/>
              </a:tblGrid>
              <a:tr h="274320">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Seed</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Skill</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Adm. countries</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Gate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74320">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42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0.043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6/10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ambria" pitchFamily="34" charset="0"/>
                          <a:ea typeface="Cambria" pitchFamily="34" charset="-122"/>
                          <a:cs typeface="Cambria" pitchFamily="34" charset="-120"/>
                        </a:rPr>
                        <a:t>fails</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43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−0.008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6/10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ambria" pitchFamily="34" charset="0"/>
                          <a:ea typeface="Cambria" pitchFamily="34" charset="-122"/>
                          <a:cs typeface="Cambria" pitchFamily="34" charset="-120"/>
                        </a:rPr>
                        <a:t>fails</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44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0.094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7/10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58C4DD"/>
                          </a:solidFill>
                          <a:latin typeface="Cambria" pitchFamily="34" charset="0"/>
                          <a:ea typeface="Cambria" pitchFamily="34" charset="-122"/>
                          <a:cs typeface="Cambria" pitchFamily="34" charset="-120"/>
                        </a:rPr>
                        <a:t>passes</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span</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b="1" dirty="0">
                          <a:solidFill>
                            <a:srgbClr val="FC6255"/>
                          </a:solidFill>
                          <a:latin typeface="Consolas" pitchFamily="34" charset="0"/>
                          <a:ea typeface="Consolas" pitchFamily="34" charset="-122"/>
                          <a:cs typeface="Consolas" pitchFamily="34" charset="-120"/>
                        </a:rPr>
                        <a:t>0.102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ambria" pitchFamily="34" charset="0"/>
                          <a:ea typeface="Cambria" pitchFamily="34" charset="-122"/>
                          <a:cs typeface="Cambria" pitchFamily="34" charset="-120"/>
                        </a:rPr>
                        <a:t>&gt; own skill</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8" name="Text 4"/>
          <p:cNvSpPr/>
          <p:nvPr/>
        </p:nvSpPr>
        <p:spPr>
          <a:xfrm>
            <a:off x="6629400" y="1298448"/>
            <a:ext cx="4873752"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SEED FRAGILITY BY FAMILY</a:t>
            </a:r>
            <a:endParaRPr lang="en-US" sz="1000" dirty="0"/>
          </a:p>
        </p:txBody>
      </p:sp>
      <p:graphicFrame>
        <p:nvGraphicFramePr>
          <p:cNvPr id="40" name="Table 2"/>
          <p:cNvGraphicFramePr>
            <a:graphicFrameLocks noGrp="1"/>
          </p:cNvGraphicFramePr>
          <p:nvPr>
            <p:extLst>
              <p:ext uri="{D42A27DB-BD31-4B8C-83A1-F6EECF244321}">
                <p14:modId xmlns:p14="http://schemas.microsoft.com/office/powerpoint/2010/main" val="1579011935"/>
              </p:ext>
            </p:extLst>
          </p:nvPr>
        </p:nvGraphicFramePr>
        <p:xfrm>
          <a:off x="6629400" y="1554480"/>
          <a:ext cx="4873752" cy="914400"/>
        </p:xfrm>
        <a:graphic>
          <a:graphicData uri="http://schemas.openxmlformats.org/drawingml/2006/table">
            <a:tbl>
              <a:tblPr/>
              <a:tblGrid>
                <a:gridCol w="1554480"/>
                <a:gridCol w="685800"/>
                <a:gridCol w="1280160"/>
                <a:gridCol w="1353312"/>
              </a:tblGrid>
              <a:tr h="274320">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Family</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n</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Median span</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Span &gt; |skill|</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74320">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lstm</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168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0.046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0.685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xlstm_const</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126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0.045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0.587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xlstm</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168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0.051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0.506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lstm_const</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126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0.015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0.238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all neural</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588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0.043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0.517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10" name="Text 5"/>
          <p:cNvSpPr/>
          <p:nvPr/>
        </p:nvSpPr>
        <p:spPr>
          <a:xfrm>
            <a:off x="6629400" y="3337560"/>
            <a:ext cx="4873752" cy="1097280"/>
          </a:xfrm>
          <a:prstGeom prst="rect">
            <a:avLst/>
          </a:prstGeom>
          <a:noFill/>
          <a:ln/>
        </p:spPr>
        <p:txBody>
          <a:bodyPr wrap="square" lIns="0" tIns="0" rIns="0" bIns="0" rtlCol="0" anchor="t"/>
          <a:lstStyle/>
          <a:p>
            <a:pPr indent="0" marL="0">
              <a:buNone/>
            </a:pPr>
            <a:r>
              <a:rPr lang="en-US" sz="1050" dirty="0">
                <a:solidFill>
                  <a:srgbClr val="C8C8C8"/>
                </a:solidFill>
                <a:latin typeface="Cambria" pitchFamily="34" charset="0"/>
                <a:ea typeface="Cambria" pitchFamily="34" charset="-122"/>
                <a:cs typeface="Cambria" pitchFamily="34" charset="-120"/>
              </a:rPr>
              <a:t>Restricting to admissible combinations raises the pooled fragility share from 0.517 to 0.586, so the gate does not filter it out. Under the pre-registered seed rule, no rank claim is made for a combination whose seed span exceeds its own skill — which is the case for the package reported above. The argmax of a ranking table silently selects the winning seed.</a:t>
            </a:r>
            <a:endParaRPr lang="en-US" sz="1050" dirty="0"/>
          </a:p>
        </p:txBody>
      </p:sp>
      <p:sp>
        <p:nvSpPr>
          <p:cNvPr id="11" name="Text 6"/>
          <p:cNvSpPr/>
          <p:nvPr/>
        </p:nvSpPr>
        <p:spPr>
          <a:xfrm>
            <a:off x="6629400" y="4526280"/>
            <a:ext cx="4873752"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INTERPRETATION, STATED AS A HYPOTHESIS</a:t>
            </a:r>
            <a:endParaRPr lang="en-US" sz="1000" dirty="0"/>
          </a:p>
        </p:txBody>
      </p:sp>
      <p:sp>
        <p:nvSpPr>
          <p:cNvPr id="12" name="Text 7"/>
          <p:cNvSpPr/>
          <p:nvPr/>
        </p:nvSpPr>
        <p:spPr>
          <a:xfrm>
            <a:off x="6629400" y="4782312"/>
            <a:ext cx="4873752" cy="1097280"/>
          </a:xfrm>
          <a:prstGeom prst="rect">
            <a:avLst/>
          </a:prstGeom>
          <a:noFill/>
          <a:ln/>
        </p:spPr>
        <p:txBody>
          <a:bodyPr wrap="square" lIns="0" tIns="0" rIns="0" bIns="0" rtlCol="0" anchor="t"/>
          <a:lstStyle/>
          <a:p>
            <a:pPr indent="0" marL="0">
              <a:buNone/>
            </a:pPr>
            <a:r>
              <a:rPr lang="en-US" sz="1050" dirty="0">
                <a:solidFill>
                  <a:srgbClr val="C8C8C8"/>
                </a:solidFill>
                <a:latin typeface="Cambria" pitchFamily="34" charset="0"/>
                <a:ea typeface="Cambria" pitchFamily="34" charset="-122"/>
                <a:cs typeface="Cambria" pitchFamily="34" charset="-120"/>
              </a:rPr>
              <a:t>277 months × 10 countries is a small sample for a model of this capacity. Two observations are consistent with a data limitation rather than an implementation fault: the LSTM runs the identical protocol and performs better, and the failure is seed-dependent rather than systematic. The design does not test this.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C0F"/>
        </a:solidFill>
      </p:bgPr>
    </p:bg>
    <p:spTree>
      <p:nvGrpSpPr>
        <p:cNvPr id="1" name=""/>
        <p:cNvGrpSpPr/>
        <p:nvPr/>
      </p:nvGrpSpPr>
      <p:grpSpPr>
        <a:xfrm>
          <a:off x="0" y="0"/>
          <a:ext cx="0" cy="0"/>
          <a:chOff x="0" y="0"/>
          <a:chExt cx="0" cy="0"/>
        </a:xfrm>
      </p:grpSpPr>
      <p:sp>
        <p:nvSpPr>
          <p:cNvPr id="2" name="Text 0"/>
          <p:cNvSpPr/>
          <p:nvPr/>
        </p:nvSpPr>
        <p:spPr>
          <a:xfrm>
            <a:off x="685800" y="365760"/>
            <a:ext cx="10820095" cy="5029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What drives the Winkler score</a:t>
            </a:r>
            <a:endParaRPr lang="en-US" sz="2700" dirty="0"/>
          </a:p>
        </p:txBody>
      </p:sp>
      <p:sp>
        <p:nvSpPr>
          <p:cNvPr id="3" name="Text 1"/>
          <p:cNvSpPr/>
          <p:nvPr/>
        </p:nvSpPr>
        <p:spPr>
          <a:xfrm>
            <a:off x="685800" y="896112"/>
            <a:ext cx="10820095" cy="256032"/>
          </a:xfrm>
          <a:prstGeom prst="rect">
            <a:avLst/>
          </a:prstGeom>
          <a:noFill/>
          <a:ln/>
        </p:spPr>
        <p:txBody>
          <a:bodyPr wrap="square" lIns="0" tIns="0" rIns="0" bIns="0" rtlCol="0" anchor="ctr"/>
          <a:lstStyle/>
          <a:p>
            <a:pPr indent="0" marL="0">
              <a:buNone/>
            </a:pPr>
            <a:r>
              <a:rPr lang="en-US" sz="1050" dirty="0">
                <a:solidFill>
                  <a:srgbClr val="7A7F87"/>
                </a:solidFill>
                <a:latin typeface="Consolas" pitchFamily="34" charset="0"/>
                <a:ea typeface="Consolas" pitchFamily="34" charset="-122"/>
                <a:cs typeface="Consolas" pitchFamily="34" charset="-120"/>
              </a:rPr>
              <a:t>decomposition over the admissible cells</a:t>
            </a:r>
            <a:endParaRPr lang="en-US" sz="1050" dirty="0"/>
          </a:p>
        </p:txBody>
      </p:sp>
      <p:sp>
        <p:nvSpPr>
          <p:cNvPr id="4" name="Text 2"/>
          <p:cNvSpPr/>
          <p:nvPr/>
        </p:nvSpPr>
        <p:spPr>
          <a:xfrm>
            <a:off x="685800" y="1280160"/>
            <a:ext cx="10820095" cy="365760"/>
          </a:xfrm>
          <a:prstGeom prst="rect">
            <a:avLst/>
          </a:prstGeom>
          <a:noFill/>
          <a:ln/>
        </p:spPr>
        <p:txBody>
          <a:bodyPr wrap="square" lIns="0" tIns="0" rIns="0" bIns="0" rtlCol="0" anchor="ctr"/>
          <a:lstStyle/>
          <a:p>
            <a:pPr indent="0" marL="0">
              <a:buNone/>
            </a:pPr>
            <a:r>
              <a:rPr lang="en-US" sz="1800" i="1" dirty="0">
                <a:solidFill>
                  <a:srgbClr val="FFFFFF"/>
                </a:solidFill>
                <a:latin typeface="Cambria" pitchFamily="34" charset="0"/>
                <a:ea typeface="Cambria" pitchFamily="34" charset="-122"/>
                <a:cs typeface="Cambria" pitchFamily="34" charset="-120"/>
              </a:rPr>
              <a:t>W</a:t>
            </a:r>
            <a:pPr indent="0" marL="0">
              <a:buNone/>
            </a:pPr>
            <a:r>
              <a:rPr lang="en-US" sz="1100" dirty="0">
                <a:solidFill>
                  <a:srgbClr val="FFFFFF"/>
                </a:solidFill>
                <a:latin typeface="Cambria" pitchFamily="34" charset="0"/>
                <a:ea typeface="Cambria" pitchFamily="34" charset="-122"/>
                <a:cs typeface="Cambria" pitchFamily="34" charset="-120"/>
              </a:rPr>
              <a:t>α</a:t>
            </a:r>
            <a:pPr indent="0" marL="0">
              <a:buNone/>
            </a:pPr>
            <a:r>
              <a:rPr lang="en-US" sz="1800" dirty="0">
                <a:solidFill>
                  <a:srgbClr val="FFFFFF"/>
                </a:solidFill>
                <a:latin typeface="Cambria" pitchFamily="34" charset="0"/>
                <a:ea typeface="Cambria" pitchFamily="34" charset="-122"/>
                <a:cs typeface="Cambria" pitchFamily="34" charset="-120"/>
              </a:rPr>
              <a:t>(l, u; y)  =  (u − l)  +  2/α · (l − y) · 1{y &lt; l}  +  2/α · (y − u) · 1{y &gt; u}</a:t>
            </a:r>
            <a:endParaRPr lang="en-US" sz="1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85800" y="1783080"/>
          <a:ext cx="10820095" cy="914400"/>
        </p:xfrm>
        <a:graphic>
          <a:graphicData uri="http://schemas.openxmlformats.org/drawingml/2006/table">
            <a:tbl>
              <a:tblPr/>
              <a:tblGrid>
                <a:gridCol w="2743200"/>
                <a:gridCol w="4873752"/>
                <a:gridCol w="1600200"/>
                <a:gridCol w="1600200"/>
              </a:tblGrid>
              <a:tr h="301752">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Term</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Meaning</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Mean value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Share of score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301752">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u − l</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interval width (sharpness)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58C4DD"/>
                          </a:solidFill>
                          <a:latin typeface="Consolas" pitchFamily="34" charset="0"/>
                          <a:ea typeface="Consolas" pitchFamily="34" charset="-122"/>
                          <a:cs typeface="Consolas" pitchFamily="34" charset="-120"/>
                        </a:rPr>
                        <a:t>0.3301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58C4DD"/>
                          </a:solidFill>
                          <a:latin typeface="Consolas" pitchFamily="34" charset="0"/>
                          <a:ea typeface="Consolas" pitchFamily="34" charset="-122"/>
                          <a:cs typeface="Consolas" pitchFamily="34" charset="-120"/>
                        </a:rPr>
                        <a:t>0.728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01752">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2/α · (l − y) · 1{y&lt;l}</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penalty when the realisation falls below the interval</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0.0521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0.115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01752">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2/α · (y − u) · 1{y&gt;u}</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penalty when it falls above</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0.0715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0.157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6" name="Text 3"/>
          <p:cNvSpPr/>
          <p:nvPr/>
        </p:nvSpPr>
        <p:spPr>
          <a:xfrm>
            <a:off x="685800" y="2971800"/>
            <a:ext cx="10820095" cy="640080"/>
          </a:xfrm>
          <a:prstGeom prst="rect">
            <a:avLst/>
          </a:prstGeom>
          <a:noFill/>
          <a:ln/>
        </p:spPr>
        <p:txBody>
          <a:bodyPr wrap="square" lIns="0" tIns="0" rIns="0" bIns="0" rtlCol="0" anchor="t"/>
          <a:lstStyle/>
          <a:p>
            <a:pPr indent="0" marL="0">
              <a:buNone/>
            </a:pPr>
            <a:r>
              <a:rPr lang="en-US" sz="1150" dirty="0">
                <a:solidFill>
                  <a:srgbClr val="C8C8C8"/>
                </a:solidFill>
                <a:latin typeface="Cambria" pitchFamily="34" charset="0"/>
                <a:ea typeface="Cambria" pitchFamily="34" charset="-122"/>
                <a:cs typeface="Cambria" pitchFamily="34" charset="-120"/>
              </a:rPr>
              <a:t>Width accounts for 72.8 % of the mean score, so the ranking on slide 12 is to first order a sharpness ranking. This is why calibration has to gate the ranking rather than enter it: without the gate, the sharpest interval wins regardless of whether it holds.</a:t>
            </a:r>
            <a:endParaRPr lang="en-US" sz="1150" dirty="0"/>
          </a:p>
        </p:txBody>
      </p:sp>
      <p:sp>
        <p:nvSpPr>
          <p:cNvPr id="7" name="Text 4"/>
          <p:cNvSpPr/>
          <p:nvPr/>
        </p:nvSpPr>
        <p:spPr>
          <a:xfrm>
            <a:off x="685800" y="3703320"/>
            <a:ext cx="5394960"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SYMMETRY OF VIOLATIONS VS. SYMMETRY OF COST</a:t>
            </a:r>
            <a:endParaRPr lang="en-US" sz="1000" dirty="0"/>
          </a:p>
        </p:txBody>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685800" y="3959352"/>
          <a:ext cx="5394960" cy="914400"/>
        </p:xfrm>
        <a:graphic>
          <a:graphicData uri="http://schemas.openxmlformats.org/drawingml/2006/table">
            <a:tbl>
              <a:tblPr/>
              <a:tblGrid>
                <a:gridCol w="3657600"/>
                <a:gridCol w="1737360"/>
              </a:tblGrid>
              <a:tr h="265176">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Quantity</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Value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65176">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Tail asymmetry, mean over all cells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50" dirty="0">
                          <a:solidFill>
                            <a:srgbClr val="C8C8C8"/>
                          </a:solidFill>
                          <a:latin typeface="Consolas" pitchFamily="34" charset="0"/>
                          <a:ea typeface="Consolas" pitchFamily="34" charset="-122"/>
                          <a:cs typeface="Consolas" pitchFamily="34" charset="-120"/>
                        </a:rPr>
                        <a:t>0.5049</a:t>
                      </a:r>
                      <a:endParaRPr lang="en-US" sz="9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Tail asymmetry, median</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50" dirty="0">
                          <a:solidFill>
                            <a:srgbClr val="C8C8C8"/>
                          </a:solidFill>
                          <a:latin typeface="Consolas" pitchFamily="34" charset="0"/>
                          <a:ea typeface="Consolas" pitchFamily="34" charset="-122"/>
                          <a:cs typeface="Consolas" pitchFamily="34" charset="-120"/>
                        </a:rPr>
                        <a:t>0.5000</a:t>
                      </a:r>
                      <a:endParaRPr lang="en-US" sz="9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Tail asymmetry, admissible cells only</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50" dirty="0">
                          <a:solidFill>
                            <a:srgbClr val="C8C8C8"/>
                          </a:solidFill>
                          <a:latin typeface="Consolas" pitchFamily="34" charset="0"/>
                          <a:ea typeface="Consolas" pitchFamily="34" charset="-122"/>
                          <a:cs typeface="Consolas" pitchFamily="34" charset="-120"/>
                        </a:rPr>
                        <a:t>0.5359</a:t>
                      </a:r>
                      <a:endParaRPr lang="en-US" sz="9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Penalty above / penalty below</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50" dirty="0">
                          <a:solidFill>
                            <a:srgbClr val="C8C8C8"/>
                          </a:solidFill>
                          <a:latin typeface="Consolas" pitchFamily="34" charset="0"/>
                          <a:ea typeface="Consolas" pitchFamily="34" charset="-122"/>
                          <a:cs typeface="Consolas" pitchFamily="34" charset="-120"/>
                        </a:rPr>
                        <a:t>1.371</a:t>
                      </a:r>
                      <a:endParaRPr lang="en-US" sz="9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Range across the 14 CP methods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50" dirty="0">
                          <a:solidFill>
                            <a:srgbClr val="C8C8C8"/>
                          </a:solidFill>
                          <a:latin typeface="Consolas" pitchFamily="34" charset="0"/>
                          <a:ea typeface="Consolas" pitchFamily="34" charset="-122"/>
                          <a:cs typeface="Consolas" pitchFamily="34" charset="-120"/>
                        </a:rPr>
                        <a:t>0.47 – 0.56</a:t>
                      </a:r>
                      <a:endParaRPr lang="en-US" sz="9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9" name="Text 5"/>
          <p:cNvSpPr/>
          <p:nvPr/>
        </p:nvSpPr>
        <p:spPr>
          <a:xfrm>
            <a:off x="6446520" y="3959352"/>
            <a:ext cx="5056632" cy="2194560"/>
          </a:xfrm>
          <a:prstGeom prst="rect">
            <a:avLst/>
          </a:prstGeom>
          <a:noFill/>
          <a:ln/>
        </p:spPr>
        <p:txBody>
          <a:bodyPr wrap="square" lIns="0" tIns="0" rIns="0" bIns="0" rtlCol="0" anchor="t"/>
          <a:lstStyle/>
          <a:p>
            <a:pPr indent="0" marL="0">
              <a:buNone/>
            </a:pPr>
            <a:r>
              <a:rPr lang="en-US" sz="1050" dirty="0">
                <a:solidFill>
                  <a:srgbClr val="C8C8C8"/>
                </a:solidFill>
                <a:latin typeface="Cambria" pitchFamily="34" charset="0"/>
                <a:ea typeface="Cambria" pitchFamily="34" charset="-122"/>
                <a:cs typeface="Cambria" pitchFamily="34" charset="-120"/>
              </a:rPr>
              <a:t>Tail asymmetry is the share of lower violations among all violations, so 0.5 is symmetric. By count, violations are close to symmetric. By cost they are not: an upward miss carries 37 % more penalty on average than a downward one. The interval is no more likely to fail upward, but when it does, the realisation lies further outside.</a:t>
            </a:r>
            <a:endParaRPr lang="en-US" sz="1050" dirty="0"/>
          </a:p>
          <a:p>
            <a:pPr indent="0" marL="0">
              <a:buNone/>
            </a:pPr>
            <a:endParaRPr lang="en-US" sz="1050" dirty="0"/>
          </a:p>
          <a:p>
            <a:pPr indent="0" marL="0">
              <a:buNone/>
            </a:pPr>
            <a:r>
              <a:rPr lang="en-US" sz="1050" dirty="0">
                <a:solidFill>
                  <a:srgbClr val="C8C8C8"/>
                </a:solidFill>
                <a:latin typeface="Cambria" pitchFamily="34" charset="0"/>
                <a:ea typeface="Cambria" pitchFamily="34" charset="-122"/>
                <a:cs typeface="Cambria" pitchFamily="34" charset="-120"/>
              </a:rPr>
              <a:t>This is consistent with the known right skew of credit spreads, where widenings are jumpy and tightenings gradual. It is an observation, not a causal claim. The consequence is structural: the CQR score is symmetric by construction and cannot represent this. Across all 14 methods the asymmetry moves only within 0.47 to 0.56, so recalibration corrects the level of coverage and not its skew.</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C0F"/>
        </a:solidFill>
      </p:bgPr>
    </p:bg>
    <p:spTree>
      <p:nvGrpSpPr>
        <p:cNvPr id="1" name=""/>
        <p:cNvGrpSpPr/>
        <p:nvPr/>
      </p:nvGrpSpPr>
      <p:grpSpPr>
        <a:xfrm>
          <a:off x="0" y="0"/>
          <a:ext cx="0" cy="0"/>
          <a:chOff x="0" y="0"/>
          <a:chExt cx="0" cy="0"/>
        </a:xfrm>
      </p:grpSpPr>
      <p:sp>
        <p:nvSpPr>
          <p:cNvPr id="2" name="Text 0"/>
          <p:cNvSpPr/>
          <p:nvPr/>
        </p:nvSpPr>
        <p:spPr>
          <a:xfrm>
            <a:off x="685800" y="365760"/>
            <a:ext cx="10820095" cy="5029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RQ1 and RQ2: pooling, fine-tuning, and adaptive width</a:t>
            </a:r>
            <a:endParaRPr lang="en-US" sz="2700" dirty="0"/>
          </a:p>
        </p:txBody>
      </p:sp>
      <p:sp>
        <p:nvSpPr>
          <p:cNvPr id="3" name="Text 1"/>
          <p:cNvSpPr/>
          <p:nvPr/>
        </p:nvSpPr>
        <p:spPr>
          <a:xfrm>
            <a:off x="685800" y="896112"/>
            <a:ext cx="10820095" cy="256032"/>
          </a:xfrm>
          <a:prstGeom prst="rect">
            <a:avLst/>
          </a:prstGeom>
          <a:noFill/>
          <a:ln/>
        </p:spPr>
        <p:txBody>
          <a:bodyPr wrap="square" lIns="0" tIns="0" rIns="0" bIns="0" rtlCol="0" anchor="ctr"/>
          <a:lstStyle/>
          <a:p>
            <a:pPr indent="0" marL="0">
              <a:buNone/>
            </a:pPr>
            <a:r>
              <a:rPr lang="en-US" sz="1050" dirty="0">
                <a:solidFill>
                  <a:srgbClr val="7A7F87"/>
                </a:solidFill>
                <a:latin typeface="Consolas" pitchFamily="34" charset="0"/>
                <a:ea typeface="Consolas" pitchFamily="34" charset="-122"/>
                <a:cs typeface="Consolas" pitchFamily="34" charset="-120"/>
              </a:rPr>
              <a:t>normalised Diebold–Mariano loss differentials, median over the ten countries · negative favours A</a:t>
            </a:r>
            <a:endParaRPr lang="en-US" sz="1050" dirty="0"/>
          </a:p>
        </p:txBody>
      </p:sp>
      <p:sp>
        <p:nvSpPr>
          <p:cNvPr id="4" name="Text 2"/>
          <p:cNvSpPr/>
          <p:nvPr/>
        </p:nvSpPr>
        <p:spPr>
          <a:xfrm>
            <a:off x="685800" y="1298448"/>
            <a:ext cx="5349240"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RQ1  —  POOLING AND FINE-TUNING</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85800" y="1554480"/>
          <a:ext cx="5349240" cy="914400"/>
        </p:xfrm>
        <a:graphic>
          <a:graphicData uri="http://schemas.openxmlformats.org/drawingml/2006/table">
            <a:tbl>
              <a:tblPr/>
              <a:tblGrid>
                <a:gridCol w="1508760"/>
                <a:gridCol w="502920"/>
                <a:gridCol w="868680"/>
                <a:gridCol w="822960"/>
                <a:gridCol w="822960"/>
                <a:gridCol w="822960"/>
              </a:tblGrid>
              <a:tr h="260604">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Contrast A vs B</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n</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d</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Share A</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Panel t</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Med. q</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60604">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G vs L</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98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+0.017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0.40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+0.84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0.413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0604">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GF vs G</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84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−0.006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0.60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−1.33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0.403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0604">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GF vs L</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84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+0.016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0.40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+0.86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0.527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0604">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GF vs GI</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84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−0.054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0.90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−3.33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0.245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0604">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lgbm: G vs L</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−0.014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0.65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−0.48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0.546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0604">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lstm: GF vs GI</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42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−0.041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0.80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−2.67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0.403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0604">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xlstm: GF vs GI</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42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−0.060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0.90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−4.93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0.145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6" name="Text 3"/>
          <p:cNvSpPr/>
          <p:nvPr/>
        </p:nvSpPr>
        <p:spPr>
          <a:xfrm>
            <a:off x="6446520" y="1298448"/>
            <a:ext cx="5056632"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RQ2  —  ADAPTIVE WIDTH VS CONSTANT-WIDTH TWIN</a:t>
            </a:r>
            <a:endParaRPr lang="en-US" sz="100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6446520" y="1554480"/>
          <a:ext cx="5056632" cy="914400"/>
        </p:xfrm>
        <a:graphic>
          <a:graphicData uri="http://schemas.openxmlformats.org/drawingml/2006/table">
            <a:tbl>
              <a:tblPr/>
              <a:tblGrid>
                <a:gridCol w="1463040"/>
                <a:gridCol w="457200"/>
                <a:gridCol w="822960"/>
                <a:gridCol w="777240"/>
                <a:gridCol w="777240"/>
                <a:gridCol w="758952"/>
              </a:tblGrid>
              <a:tr h="226771">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Model / regime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n</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d</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Share A</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Panel t</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Seed-st.</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26771">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lgbm / L</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−0.018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0.65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−1.60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n/a</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26771">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lgbm / G</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−0.009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0.60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−0.61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n/a</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26771">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xlstm / L</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42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+0.005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0.50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−0.34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0.21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26771">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xlstm / GF</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42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+0.006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0.50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+0.45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0.21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26771">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lstm / L</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42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+0.009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0.40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−0.21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0.29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26771">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xlstm / G</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42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+0.014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0.50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+0.23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0.14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26771">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lstm / G</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42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+0.062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0.10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+3.23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0.86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26771">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lstm / GF</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42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+0.062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0.10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+3.07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0.79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8" name="Text 4"/>
          <p:cNvSpPr/>
          <p:nvPr/>
        </p:nvSpPr>
        <p:spPr>
          <a:xfrm>
            <a:off x="685800" y="3657600"/>
            <a:ext cx="10820095"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READING</a:t>
            </a:r>
            <a:endParaRPr lang="en-US" sz="1000" dirty="0"/>
          </a:p>
        </p:txBody>
      </p:sp>
      <p:graphicFrame>
        <p:nvGraphicFramePr>
          <p:cNvPr id="46" name="Table 2"/>
          <p:cNvGraphicFramePr>
            <a:graphicFrameLocks noGrp="1"/>
          </p:cNvGraphicFramePr>
          <p:nvPr>
            <p:extLst>
              <p:ext uri="{D42A27DB-BD31-4B8C-83A1-F6EECF244321}">
                <p14:modId xmlns:p14="http://schemas.microsoft.com/office/powerpoint/2010/main" val="1579011935"/>
              </p:ext>
            </p:extLst>
          </p:nvPr>
        </p:nvGraphicFramePr>
        <p:xfrm>
          <a:off x="685800" y="3931920"/>
          <a:ext cx="10820095" cy="914400"/>
        </p:xfrm>
        <a:graphic>
          <a:graphicData uri="http://schemas.openxmlformats.org/drawingml/2006/table">
            <a:tbl>
              <a:tblPr/>
              <a:tblGrid>
                <a:gridCol w="3200400"/>
                <a:gridCol w="7616952"/>
              </a:tblGrid>
              <a:tr h="338328">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Finding</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Evidence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338328">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Pooling costs the neural models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G vs L is +0.017, so the per-country model has the lower loss. Fine-tuning recovers 0.006 and leaves +0.016 against local.</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38328">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LightGBM is the exception</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it gains from pooling (−0.014). Trees can split on the country label; the neural embedding has 277 months per country to learn from.</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38328">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Fine-tuning beats a level shift</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GF vs GI is −0.054. For xlstm it is −0.060 at panel t −4.93, and it is the only RQ1 contrast sign-stable across all three seeds.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38328">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Model-side width adaptivity does not pay</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median across all 280 contrasts is +0.020. lstm is clearly worse (+0.062), lgbm slightly better, xlstm not determinable (seed-stable 0.14–0.21).</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38328">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The CP layer's adaptivity does pay</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the online trackers beat native by −0.054 (dtaci, pid), about ten times the size of the model-side effect.</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38328">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Significance, for all of the above</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None is FDR-significant at contrast level: over the 266 RQ1 contrasts the smallest median q is 0.019 and 30 fall below 0.10, against 131 with |panel t| &gt; 1.96. The panel statistic asks whether the effect holds on average across countries, the q-value whether it is detectable within one country after correction. All findings are directional.</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C0F"/>
        </a:solidFill>
      </p:bgPr>
    </p:bg>
    <p:spTree>
      <p:nvGrpSpPr>
        <p:cNvPr id="1" name=""/>
        <p:cNvGrpSpPr/>
        <p:nvPr/>
      </p:nvGrpSpPr>
      <p:grpSpPr>
        <a:xfrm>
          <a:off x="0" y="0"/>
          <a:ext cx="0" cy="0"/>
          <a:chOff x="0" y="0"/>
          <a:chExt cx="0" cy="0"/>
        </a:xfrm>
      </p:grpSpPr>
      <p:sp>
        <p:nvSpPr>
          <p:cNvPr id="2" name="Text 0"/>
          <p:cNvSpPr/>
          <p:nvPr/>
        </p:nvSpPr>
        <p:spPr>
          <a:xfrm>
            <a:off x="685800" y="365760"/>
            <a:ext cx="10820095" cy="5029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Q4: do the 17 covariates add anything?</a:t>
            </a:r>
            <a:endParaRPr lang="en-US" sz="2700" dirty="0"/>
          </a:p>
        </p:txBody>
      </p:sp>
      <p:sp>
        <p:nvSpPr>
          <p:cNvPr id="3" name="Text 1"/>
          <p:cNvSpPr/>
          <p:nvPr/>
        </p:nvSpPr>
        <p:spPr>
          <a:xfrm>
            <a:off x="685800" y="896112"/>
            <a:ext cx="10820095" cy="256032"/>
          </a:xfrm>
          <a:prstGeom prst="rect">
            <a:avLst/>
          </a:prstGeom>
          <a:noFill/>
          <a:ln/>
        </p:spPr>
        <p:txBody>
          <a:bodyPr wrap="square" lIns="0" tIns="0" rIns="0" bIns="0" rtlCol="0" anchor="ctr"/>
          <a:lstStyle/>
          <a:p>
            <a:pPr indent="0" marL="0">
              <a:buNone/>
            </a:pPr>
            <a:r>
              <a:rPr lang="en-US" sz="1050" dirty="0">
                <a:solidFill>
                  <a:srgbClr val="7A7F87"/>
                </a:solidFill>
                <a:latin typeface="Consolas" pitchFamily="34" charset="0"/>
                <a:ea typeface="Consolas" pitchFamily="34" charset="-122"/>
                <a:cs typeface="Consolas" pitchFamily="34" charset="-120"/>
              </a:rPr>
              <a:t>tirex2 against tirex2_cov — same pre-trained model, same 127 test months, same seed, covariates the only difference</a:t>
            </a:r>
            <a:endParaRPr lang="en-US" sz="1050" dirty="0"/>
          </a:p>
        </p:txBody>
      </p:sp>
      <p:sp>
        <p:nvSpPr>
          <p:cNvPr id="4" name="Text 2"/>
          <p:cNvSpPr/>
          <p:nvPr/>
        </p:nvSpPr>
        <p:spPr>
          <a:xfrm>
            <a:off x="685800" y="1298448"/>
            <a:ext cx="5623560"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AFTER CALIBRATION, BY METHOD</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85800" y="1554480"/>
          <a:ext cx="5623560" cy="914400"/>
        </p:xfrm>
        <a:graphic>
          <a:graphicData uri="http://schemas.openxmlformats.org/drawingml/2006/table">
            <a:tbl>
              <a:tblPr/>
              <a:tblGrid>
                <a:gridCol w="1417320"/>
                <a:gridCol w="713232"/>
                <a:gridCol w="713232"/>
                <a:gridCol w="749808"/>
                <a:gridCol w="749808"/>
                <a:gridCol w="685800"/>
                <a:gridCol w="594360"/>
              </a:tblGrid>
              <a:tr h="212141">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Method</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uni</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cov</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Δ skill</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d</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Share uni</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Panel t</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cqr_static</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0.1461</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0.1402</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+0.0059</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−0.0024</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0.6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+0.63</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decay_ocp_cqr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0.1442</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0.1385</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+0.0058</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−0.0003</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0.5</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−0.05</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native</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0.1420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0.1409</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+0.0011</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+0.0047</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0.3</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+2.13</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cqr_rolling</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0.1316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0.1218</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+0.0098</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−0.0026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0.8</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−1.17</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agaci_cqr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0.1261</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0.1193</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+0.0068</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−0.0022</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0.7</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−0.81</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aci_cqr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0.1208</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0.1132</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+0.0077</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−0.0033</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0.8</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−1.08</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dtaci_cqr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0.1195</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0.1166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+0.0029</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−0.0003</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0.6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−0.69</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pid_cqr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0.1160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0.1035</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+0.0125</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−0.0060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0.6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−0.21</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spci_cqr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0.0796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0.0865</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−0.0069</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−0.0001</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0.5</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−0.86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mondrian_cqr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0.0354</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0.0363</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−0.0009</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−0.0019</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0.7</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−0.88</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median (14)</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FFFFF"/>
                          </a:solidFill>
                          <a:latin typeface="Consolas" pitchFamily="34" charset="0"/>
                          <a:ea typeface="Consolas" pitchFamily="34" charset="-122"/>
                          <a:cs typeface="Consolas" pitchFamily="34" charset="-120"/>
                        </a:rPr>
                        <a:t>0.1178</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FFFFF"/>
                          </a:solidFill>
                          <a:latin typeface="Consolas" pitchFamily="34" charset="0"/>
                          <a:ea typeface="Consolas" pitchFamily="34" charset="-122"/>
                          <a:cs typeface="Consolas" pitchFamily="34" charset="-120"/>
                        </a:rPr>
                        <a:t>0.1084</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FFFFF"/>
                          </a:solidFill>
                          <a:latin typeface="Consolas" pitchFamily="34" charset="0"/>
                          <a:ea typeface="Consolas" pitchFamily="34" charset="-122"/>
                          <a:cs typeface="Consolas" pitchFamily="34" charset="-120"/>
                        </a:rPr>
                        <a:t>+0.0036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FFFFF"/>
                          </a:solidFill>
                          <a:latin typeface="Consolas" pitchFamily="34" charset="0"/>
                          <a:ea typeface="Consolas" pitchFamily="34" charset="-122"/>
                          <a:cs typeface="Consolas" pitchFamily="34" charset="-120"/>
                        </a:rPr>
                        <a:t>−0.0023</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FFFFF"/>
                          </a:solidFill>
                          <a:latin typeface="Consolas" pitchFamily="34" charset="0"/>
                          <a:ea typeface="Consolas" pitchFamily="34" charset="-122"/>
                          <a:cs typeface="Consolas" pitchFamily="34" charset="-120"/>
                        </a:rPr>
                        <a:t>0.6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FFFFF"/>
                          </a:solidFill>
                          <a:latin typeface="Consolas" pitchFamily="34" charset="0"/>
                          <a:ea typeface="Consolas" pitchFamily="34" charset="-122"/>
                          <a:cs typeface="Consolas" pitchFamily="34" charset="-120"/>
                        </a:rPr>
                        <a:t>−0.75</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6" name="Text 3"/>
          <p:cNvSpPr/>
          <p:nvPr/>
        </p:nvSpPr>
        <p:spPr>
          <a:xfrm>
            <a:off x="6720840" y="1298448"/>
            <a:ext cx="4782312"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BEFORE CALIBRATION, BY COUNTRY</a:t>
            </a:r>
            <a:endParaRPr lang="en-US" sz="1000" dirty="0"/>
          </a:p>
        </p:txBody>
      </p:sp>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6720840" y="1554480"/>
          <a:ext cx="4782312" cy="914400"/>
        </p:xfrm>
        <a:graphic>
          <a:graphicData uri="http://schemas.openxmlformats.org/drawingml/2006/table">
            <a:tbl>
              <a:tblPr/>
              <a:tblGrid>
                <a:gridCol w="868680"/>
                <a:gridCol w="1024128"/>
                <a:gridCol w="987552"/>
                <a:gridCol w="941832"/>
                <a:gridCol w="960120"/>
              </a:tblGrid>
              <a:tr h="212141">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Country</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Δ width</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Δ MAE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Δ cov.</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W ratio</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AT</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−0.0041</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+0.0002</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−0.0079</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1.002</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BE</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−0.0057</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−0.0000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−0.0157</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1.001</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ES</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−0.0096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+0.0013</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−0.0394</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1.009</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FI</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−0.0053</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−0.0004</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−0.0079</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0.993</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FR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−0.0029</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−0.0000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−0.0079</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0.997</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GR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−0.0555</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−0.0007</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−0.0157</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0.974</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IE</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−0.0133</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+0.0008</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−0.0315</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0.974</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IT</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−0.0243</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+0.0005</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−0.0157</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0.993</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NL</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−0.0040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−0.0001</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0.0000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0.999</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PT</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−0.0258</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+0.0028</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−0.0236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0.975</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12141">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median</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FFFFF"/>
                          </a:solidFill>
                          <a:latin typeface="Consolas" pitchFamily="34" charset="0"/>
                          <a:ea typeface="Consolas" pitchFamily="34" charset="-122"/>
                          <a:cs typeface="Consolas" pitchFamily="34" charset="-120"/>
                        </a:rPr>
                        <a:t>−0.0076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FFFFF"/>
                          </a:solidFill>
                          <a:latin typeface="Consolas" pitchFamily="34" charset="0"/>
                          <a:ea typeface="Consolas" pitchFamily="34" charset="-122"/>
                          <a:cs typeface="Consolas" pitchFamily="34" charset="-120"/>
                        </a:rPr>
                        <a:t>+0.0001</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FFFFF"/>
                          </a:solidFill>
                          <a:latin typeface="Consolas" pitchFamily="34" charset="0"/>
                          <a:ea typeface="Consolas" pitchFamily="34" charset="-122"/>
                          <a:cs typeface="Consolas" pitchFamily="34" charset="-120"/>
                        </a:rPr>
                        <a:t>−0.0157</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FFFFF"/>
                          </a:solidFill>
                          <a:latin typeface="Consolas" pitchFamily="34" charset="0"/>
                          <a:ea typeface="Consolas" pitchFamily="34" charset="-122"/>
                          <a:cs typeface="Consolas" pitchFamily="34" charset="-120"/>
                        </a:rPr>
                        <a:t>0.995</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8" name="Text 4"/>
          <p:cNvSpPr/>
          <p:nvPr/>
        </p:nvSpPr>
        <p:spPr>
          <a:xfrm>
            <a:off x="685800" y="4224528"/>
            <a:ext cx="10820095"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RESULT</a:t>
            </a:r>
            <a:endParaRPr lang="en-US" sz="1000" dirty="0"/>
          </a:p>
        </p:txBody>
      </p:sp>
      <p:graphicFrame>
        <p:nvGraphicFramePr>
          <p:cNvPr id="49" name="Table 2"/>
          <p:cNvGraphicFramePr>
            <a:graphicFrameLocks noGrp="1"/>
          </p:cNvGraphicFramePr>
          <p:nvPr>
            <p:extLst>
              <p:ext uri="{D42A27DB-BD31-4B8C-83A1-F6EECF244321}">
                <p14:modId xmlns:p14="http://schemas.microsoft.com/office/powerpoint/2010/main" val="1579011935"/>
              </p:ext>
            </p:extLst>
          </p:nvPr>
        </p:nvGraphicFramePr>
        <p:xfrm>
          <a:off x="685800" y="4480560"/>
          <a:ext cx="10820095" cy="914400"/>
        </p:xfrm>
        <a:graphic>
          <a:graphicData uri="http://schemas.openxmlformats.org/drawingml/2006/table">
            <a:tbl>
              <a:tblPr/>
              <a:tblGrid>
                <a:gridCol w="3291840"/>
                <a:gridCol w="7525512"/>
              </a:tblGrid>
              <a:tr h="484632">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Statement</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Evidence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484632">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After calibration the effect is not distinguishable from zero</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median Δ skill +0.0036 in favour of univariate, paired d −0.0023, panel t −0.75. Of 140 country tests, 18 reach p &lt; 0.10 before correction against 14 expected under the null, splitting 10 to 8 by direction. BH within this family leaves none; smallest q 0.42.</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484632">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Before calibration the covariates do push in the right direction</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they narrow the interval in all ten countries by 2.2 to 6.9 %, lower the Winkler score in seven, and move coverage from 0.843 to 0.831, i.e. towards the nominal 0.80.</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484632">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What this does not establish</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not that macro fundamentals are irrelevant for sovereign spreads. The cited literature explains levels in the cross-section; this study forecasts changes at h = 1 month. The conservative lag protocol also means the model partly sees stale data.</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C0F"/>
        </a:solidFill>
      </p:bgPr>
    </p:bg>
    <p:spTree>
      <p:nvGrpSpPr>
        <p:cNvPr id="1" name=""/>
        <p:cNvGrpSpPr/>
        <p:nvPr/>
      </p:nvGrpSpPr>
      <p:grpSpPr>
        <a:xfrm>
          <a:off x="0" y="0"/>
          <a:ext cx="0" cy="0"/>
          <a:chOff x="0" y="0"/>
          <a:chExt cx="0" cy="0"/>
        </a:xfrm>
      </p:grpSpPr>
      <p:sp>
        <p:nvSpPr>
          <p:cNvPr id="2" name="Text 0"/>
          <p:cNvSpPr/>
          <p:nvPr/>
        </p:nvSpPr>
        <p:spPr>
          <a:xfrm>
            <a:off x="685800" y="365760"/>
            <a:ext cx="10820095" cy="5029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Q5a: economic reading of interval quality</a:t>
            </a:r>
            <a:endParaRPr lang="en-US" sz="2700" dirty="0"/>
          </a:p>
        </p:txBody>
      </p:sp>
      <p:sp>
        <p:nvSpPr>
          <p:cNvPr id="3" name="Text 1"/>
          <p:cNvSpPr/>
          <p:nvPr/>
        </p:nvSpPr>
        <p:spPr>
          <a:xfrm>
            <a:off x="685800" y="896112"/>
            <a:ext cx="10820095" cy="256032"/>
          </a:xfrm>
          <a:prstGeom prst="rect">
            <a:avLst/>
          </a:prstGeom>
          <a:noFill/>
          <a:ln/>
        </p:spPr>
        <p:txBody>
          <a:bodyPr wrap="square" lIns="0" tIns="0" rIns="0" bIns="0" rtlCol="0" anchor="ctr"/>
          <a:lstStyle/>
          <a:p>
            <a:pPr indent="0" marL="0">
              <a:buNone/>
            </a:pPr>
            <a:r>
              <a:rPr lang="en-US" sz="1050" dirty="0">
                <a:solidFill>
                  <a:srgbClr val="7A7F87"/>
                </a:solidFill>
                <a:latin typeface="Consolas" pitchFamily="34" charset="0"/>
                <a:ea typeface="Consolas" pitchFamily="34" charset="-122"/>
                <a:cs typeface="Consolas" pitchFamily="34" charset="-120"/>
              </a:rPr>
              <a:t>supplementary throughout — never a ranking criterion</a:t>
            </a:r>
            <a:endParaRPr lang="en-US" sz="1050" dirty="0"/>
          </a:p>
        </p:txBody>
      </p:sp>
      <p:sp>
        <p:nvSpPr>
          <p:cNvPr id="4" name="Text 2"/>
          <p:cNvSpPr/>
          <p:nvPr/>
        </p:nvSpPr>
        <p:spPr>
          <a:xfrm>
            <a:off x="685800" y="1298448"/>
            <a:ext cx="5486400"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CAPITAL PROXY</a:t>
            </a:r>
            <a:endParaRPr lang="en-US" sz="1000" dirty="0"/>
          </a:p>
        </p:txBody>
      </p:sp>
      <p:sp>
        <p:nvSpPr>
          <p:cNvPr id="5" name="Text 3"/>
          <p:cNvSpPr/>
          <p:nvPr/>
        </p:nvSpPr>
        <p:spPr>
          <a:xfrm>
            <a:off x="685800" y="1554480"/>
            <a:ext cx="5486400" cy="731520"/>
          </a:xfrm>
          <a:prstGeom prst="rect">
            <a:avLst/>
          </a:prstGeom>
          <a:noFill/>
          <a:ln/>
        </p:spPr>
        <p:txBody>
          <a:bodyPr wrap="square" lIns="0" tIns="0" rIns="0" bIns="0" rtlCol="0" anchor="t"/>
          <a:lstStyle/>
          <a:p>
            <a:pPr indent="0" marL="0">
              <a:buNone/>
            </a:pPr>
            <a:r>
              <a:rPr lang="en-US" sz="1100" dirty="0">
                <a:solidFill>
                  <a:srgbClr val="C8C8C8"/>
                </a:solidFill>
                <a:latin typeface="Cambria" pitchFamily="34" charset="0"/>
                <a:ea typeface="Cambria" pitchFamily="34" charset="-122"/>
                <a:cs typeface="Cambria" pitchFamily="34" charset="-120"/>
              </a:rPr>
              <a:t>Defined as the interval width divided by the widest admissible width in the same country, median over countries. A lower ratio means less width carried for the same nominal coverage. This is a documented simplification of the FRTB logic, not an implementation of it.</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85800" y="2377440"/>
          <a:ext cx="5486400" cy="914400"/>
        </p:xfrm>
        <a:graphic>
          <a:graphicData uri="http://schemas.openxmlformats.org/drawingml/2006/table">
            <a:tbl>
              <a:tblPr/>
              <a:tblGrid>
                <a:gridCol w="3931920"/>
                <a:gridCol w="1554480"/>
              </a:tblGrid>
              <a:tr h="274320">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Package or set</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Capital ratio</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74320">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tirex2 / ZS / cqr_static</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58C4DD"/>
                          </a:solidFill>
                          <a:latin typeface="Consolas" pitchFamily="34" charset="0"/>
                          <a:ea typeface="Consolas" pitchFamily="34" charset="-122"/>
                          <a:cs typeface="Consolas" pitchFamily="34" charset="-120"/>
                        </a:rPr>
                        <a:t>0.551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tirex2 / ZS / decay_ocp_cqr</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58C4DD"/>
                          </a:solidFill>
                          <a:latin typeface="Consolas" pitchFamily="34" charset="0"/>
                          <a:ea typeface="Consolas" pitchFamily="34" charset="-122"/>
                          <a:cs typeface="Consolas" pitchFamily="34" charset="-120"/>
                        </a:rPr>
                        <a:t>0.573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lgbm / G / decay_ocp_cqr</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0.598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tirex / ZS / native</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0.619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rw / L / aci_cqr</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0.635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median over the 485 admissible combinations</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0.669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worst admissible combination</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0.878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7" name="Text 4"/>
          <p:cNvSpPr/>
          <p:nvPr/>
        </p:nvSpPr>
        <p:spPr>
          <a:xfrm>
            <a:off x="6629400" y="1298448"/>
            <a:ext cx="4873752"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WHAT INTERVAL QUALITY TRANSLATES INTO</a:t>
            </a:r>
            <a:endParaRPr lang="en-US" sz="1000" dirty="0"/>
          </a:p>
        </p:txBody>
      </p:sp>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6629400" y="1554480"/>
          <a:ext cx="4873752" cy="914400"/>
        </p:xfrm>
        <a:graphic>
          <a:graphicData uri="http://schemas.openxmlformats.org/drawingml/2006/table">
            <a:tbl>
              <a:tblPr/>
              <a:tblGrid>
                <a:gridCol w="3200400"/>
                <a:gridCol w="1673352"/>
              </a:tblGrid>
              <a:tr h="292608">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Relationship</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Spearman</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92608">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Median skill vs capital ratio</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1000" dirty="0">
                          <a:solidFill>
                            <a:srgbClr val="FC6255"/>
                          </a:solidFill>
                          <a:latin typeface="Consolas" pitchFamily="34" charset="0"/>
                          <a:ea typeface="Consolas" pitchFamily="34" charset="-122"/>
                          <a:cs typeface="Consolas" pitchFamily="34" charset="-120"/>
                        </a:rPr>
                        <a:t>−0.711</a:t>
                      </a:r>
                      <a:endParaRPr lang="en-US" sz="10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92608">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Median skill vs trading Sharpe</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1000" dirty="0">
                          <a:solidFill>
                            <a:srgbClr val="FC6255"/>
                          </a:solidFill>
                          <a:latin typeface="Consolas" pitchFamily="34" charset="0"/>
                          <a:ea typeface="Consolas" pitchFamily="34" charset="-122"/>
                          <a:cs typeface="Consolas" pitchFamily="34" charset="-120"/>
                        </a:rPr>
                        <a:t>−0.147</a:t>
                      </a:r>
                      <a:endParaRPr lang="en-US" sz="10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9" name="Text 5"/>
          <p:cNvSpPr/>
          <p:nvPr/>
        </p:nvSpPr>
        <p:spPr>
          <a:xfrm>
            <a:off x="6629400" y="2578608"/>
            <a:ext cx="4873752" cy="914400"/>
          </a:xfrm>
          <a:prstGeom prst="rect">
            <a:avLst/>
          </a:prstGeom>
          <a:noFill/>
          <a:ln/>
        </p:spPr>
        <p:txBody>
          <a:bodyPr wrap="square" lIns="0" tIns="0" rIns="0" bIns="0" rtlCol="0" anchor="t"/>
          <a:lstStyle/>
          <a:p>
            <a:pPr indent="0" marL="0">
              <a:buNone/>
            </a:pPr>
            <a:r>
              <a:rPr lang="en-US" sz="1100" dirty="0">
                <a:solidFill>
                  <a:srgbClr val="C8C8C8"/>
                </a:solidFill>
                <a:latin typeface="Cambria" pitchFamily="34" charset="0"/>
                <a:ea typeface="Cambria" pitchFamily="34" charset="-122"/>
                <a:cs typeface="Cambria" pitchFamily="34" charset="-120"/>
              </a:rPr>
              <a:t>A low capital ratio is the desirable outcome, so the negative correlation is the expected sign: better intervals carry less width. The near-zero correlation with the trading Sharpe says the same quality does not translate into directional P&amp;L. Consistent with slide 10, where no model improves the point forecast.</a:t>
            </a:r>
            <a:endParaRPr lang="en-US" sz="1100" dirty="0"/>
          </a:p>
        </p:txBody>
      </p:sp>
      <p:sp>
        <p:nvSpPr>
          <p:cNvPr id="10" name="Text 6"/>
          <p:cNvSpPr/>
          <p:nvPr/>
        </p:nvSpPr>
        <p:spPr>
          <a:xfrm>
            <a:off x="6629400" y="3639312"/>
            <a:ext cx="4873752"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LIMITS OF THIS BLOCK</a:t>
            </a:r>
            <a:endParaRPr lang="en-US" sz="1000" dirty="0"/>
          </a:p>
        </p:txBody>
      </p:sp>
      <p:graphicFrame>
        <p:nvGraphicFramePr>
          <p:cNvPr id="52" name="Table 2"/>
          <p:cNvGraphicFramePr>
            <a:graphicFrameLocks noGrp="1"/>
          </p:cNvGraphicFramePr>
          <p:nvPr>
            <p:extLst>
              <p:ext uri="{D42A27DB-BD31-4B8C-83A1-F6EECF244321}">
                <p14:modId xmlns:p14="http://schemas.microsoft.com/office/powerpoint/2010/main" val="1579011935"/>
              </p:ext>
            </p:extLst>
          </p:nvPr>
        </p:nvGraphicFramePr>
        <p:xfrm>
          <a:off x="6629400" y="3895344"/>
          <a:ext cx="4873752" cy="914400"/>
        </p:xfrm>
        <a:graphic>
          <a:graphicData uri="http://schemas.openxmlformats.org/drawingml/2006/table">
            <a:tbl>
              <a:tblPr/>
              <a:tblGrid>
                <a:gridCol w="1371600"/>
                <a:gridCol w="3502152"/>
              </a:tblGrid>
              <a:tr h="402336">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Measure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Limitation</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402336">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Trading rule</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C8C8C8"/>
                          </a:solidFill>
                          <a:latin typeface="Cambria" pitchFamily="34" charset="0"/>
                          <a:ea typeface="Cambria" pitchFamily="34" charset="-122"/>
                          <a:cs typeface="Cambria" pitchFamily="34" charset="-120"/>
                        </a:rPr>
                        <a:t>active in about 2 % of months, no transaction costs, no bid-ask, no capacity limit</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402336">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Median Sharpe</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C8C8C8"/>
                          </a:solidFill>
                          <a:latin typeface="Cambria" pitchFamily="34" charset="0"/>
                          <a:ea typeface="Cambria" pitchFamily="34" charset="-122"/>
                          <a:cs typeface="Cambria" pitchFamily="34" charset="-120"/>
                        </a:rPr>
                        <a:t>0.159 over admissible combinations, but on so few active months it carries no information</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402336">
                <a:tc>
                  <a:txBody>
                    <a:bodyPr/>
                    <a:lstStyle/>
                    <a:p>
                      <a:pPr algn="l" indent="0" marL="0">
                        <a:buNone/>
                      </a:pPr>
                      <a:r>
                        <a:rPr lang="en-US" sz="900" dirty="0">
                          <a:solidFill>
                            <a:srgbClr val="7A7F87"/>
                          </a:solidFill>
                          <a:latin typeface="Cambria" pitchFamily="34" charset="0"/>
                          <a:ea typeface="Cambria" pitchFamily="34" charset="-122"/>
                          <a:cs typeface="Cambria" pitchFamily="34" charset="-120"/>
                        </a:rPr>
                        <a:t>Capital proxy</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C8C8C8"/>
                          </a:solidFill>
                          <a:latin typeface="Cambria" pitchFamily="34" charset="0"/>
                          <a:ea typeface="Cambria" pitchFamily="34" charset="-122"/>
                          <a:cs typeface="Cambria" pitchFamily="34" charset="-120"/>
                        </a:rPr>
                        <a:t>assumes width proportional to capital requirement</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12" name="Text 7"/>
          <p:cNvSpPr/>
          <p:nvPr/>
        </p:nvSpPr>
        <p:spPr>
          <a:xfrm>
            <a:off x="685800" y="5623560"/>
            <a:ext cx="10820095" cy="548640"/>
          </a:xfrm>
          <a:prstGeom prst="rect">
            <a:avLst/>
          </a:prstGeom>
          <a:noFill/>
          <a:ln/>
        </p:spPr>
        <p:txBody>
          <a:bodyPr wrap="square" lIns="0" tIns="0" rIns="0" bIns="0" rtlCol="0" anchor="t"/>
          <a:lstStyle/>
          <a:p>
            <a:pPr indent="0" marL="0">
              <a:buNone/>
            </a:pPr>
            <a:r>
              <a:rPr lang="en-US" sz="1150" dirty="0">
                <a:solidFill>
                  <a:srgbClr val="C8C8C8"/>
                </a:solidFill>
                <a:latin typeface="Cambria" pitchFamily="34" charset="0"/>
                <a:ea typeface="Cambria" pitchFamily="34" charset="-122"/>
                <a:cs typeface="Cambria" pitchFamily="34" charset="-120"/>
              </a:rPr>
              <a:t>The interval-quality gains in this study are realisable in a capital metric, not in trading performance. Given the point-forecast results, that is the expected outcome rather than a surprising one.</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C0F"/>
        </a:solidFill>
      </p:bgPr>
    </p:bg>
    <p:spTree>
      <p:nvGrpSpPr>
        <p:cNvPr id="1" name=""/>
        <p:cNvGrpSpPr/>
        <p:nvPr/>
      </p:nvGrpSpPr>
      <p:grpSpPr>
        <a:xfrm>
          <a:off x="0" y="0"/>
          <a:ext cx="0" cy="0"/>
          <a:chOff x="0" y="0"/>
          <a:chExt cx="0" cy="0"/>
        </a:xfrm>
      </p:grpSpPr>
      <p:sp>
        <p:nvSpPr>
          <p:cNvPr id="2" name="Text 0"/>
          <p:cNvSpPr/>
          <p:nvPr/>
        </p:nvSpPr>
        <p:spPr>
          <a:xfrm>
            <a:off x="685800" y="365760"/>
            <a:ext cx="10820095" cy="5029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Q5b: behaviour under stress</a:t>
            </a:r>
            <a:endParaRPr lang="en-US" sz="2700" dirty="0"/>
          </a:p>
        </p:txBody>
      </p:sp>
      <p:sp>
        <p:nvSpPr>
          <p:cNvPr id="3" name="Text 1"/>
          <p:cNvSpPr/>
          <p:nvPr/>
        </p:nvSpPr>
        <p:spPr>
          <a:xfrm>
            <a:off x="685800" y="896112"/>
            <a:ext cx="10820095" cy="256032"/>
          </a:xfrm>
          <a:prstGeom prst="rect">
            <a:avLst/>
          </a:prstGeom>
          <a:noFill/>
          <a:ln/>
        </p:spPr>
        <p:txBody>
          <a:bodyPr wrap="square" lIns="0" tIns="0" rIns="0" bIns="0" rtlCol="0" anchor="ctr"/>
          <a:lstStyle/>
          <a:p>
            <a:pPr indent="0" marL="0">
              <a:buNone/>
            </a:pPr>
            <a:r>
              <a:rPr lang="en-US" sz="1050" dirty="0">
                <a:solidFill>
                  <a:srgbClr val="7A7F87"/>
                </a:solidFill>
                <a:latin typeface="Consolas" pitchFamily="34" charset="0"/>
                <a:ea typeface="Consolas" pitchFamily="34" charset="-122"/>
                <a:cs typeface="Consolas" pitchFamily="34" charset="-120"/>
              </a:rPr>
              <a:t>both axes use only information available before the forecast month</a:t>
            </a:r>
            <a:endParaRPr lang="en-US" sz="1050" dirty="0"/>
          </a:p>
        </p:txBody>
      </p:sp>
      <p:sp>
        <p:nvSpPr>
          <p:cNvPr id="4" name="Text 2"/>
          <p:cNvSpPr/>
          <p:nvPr/>
        </p:nvSpPr>
        <p:spPr>
          <a:xfrm>
            <a:off x="685800" y="1298448"/>
            <a:ext cx="5486400"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AGGREGATE OVER THE 485 ADMISSIBLE COMBINATIONS</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85800" y="1554480"/>
          <a:ext cx="5486400" cy="914400"/>
        </p:xfrm>
        <a:graphic>
          <a:graphicData uri="http://schemas.openxmlformats.org/drawingml/2006/table">
            <a:tbl>
              <a:tblPr/>
              <a:tblGrid>
                <a:gridCol w="1097280"/>
                <a:gridCol w="1097280"/>
                <a:gridCol w="731520"/>
                <a:gridCol w="914400"/>
                <a:gridCol w="777240"/>
                <a:gridCol w="868680"/>
              </a:tblGrid>
              <a:tr h="274320">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Regime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Country-months</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Share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Coverage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Mean W</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Median skill</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74320">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Calm</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381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0.300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0.7795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0.2990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+0.1114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Mid</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509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0.401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0.8166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0.4870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+0.0100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Stressed</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380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0.299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0.8412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0.5644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−0.0037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VIX ≤ 20</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910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0.717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0.8342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0.4333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+0.0513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VIX &gt; 20</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360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0.283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0.7588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0.5055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−0.0222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6" name="Text 3"/>
          <p:cNvSpPr/>
          <p:nvPr/>
        </p:nvSpPr>
        <p:spPr>
          <a:xfrm>
            <a:off x="6629400" y="1298448"/>
            <a:ext cx="4873752"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THE TWO AXES ARE NEARLY ORTHOGONAL</a:t>
            </a:r>
            <a:endParaRPr lang="en-US" sz="1000" dirty="0"/>
          </a:p>
        </p:txBody>
      </p:sp>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6629400" y="1554480"/>
          <a:ext cx="4873752" cy="914400"/>
        </p:xfrm>
        <a:graphic>
          <a:graphicData uri="http://schemas.openxmlformats.org/drawingml/2006/table">
            <a:tbl>
              <a:tblPr/>
              <a:tblGrid>
                <a:gridCol w="3200400"/>
                <a:gridCol w="1673352"/>
              </a:tblGrid>
              <a:tr h="274320">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Quantity</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Value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74320">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High-VIX months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36 of 127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Months in the top volatility tercile</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38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Months classified stressed by both</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corr(VIX, share of stressed countries)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0.009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950" dirty="0">
                          <a:solidFill>
                            <a:srgbClr val="7A7F87"/>
                          </a:solidFill>
                          <a:latin typeface="Cambria" pitchFamily="34" charset="0"/>
                          <a:ea typeface="Cambria" pitchFamily="34" charset="-122"/>
                          <a:cs typeface="Cambria" pitchFamily="34" charset="-120"/>
                        </a:rPr>
                        <a:t>strongest lagged correlation</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0.170 at 2 months</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8" name="Text 4"/>
          <p:cNvSpPr/>
          <p:nvPr/>
        </p:nvSpPr>
        <p:spPr>
          <a:xfrm>
            <a:off x="685800" y="3310128"/>
            <a:ext cx="10820095" cy="1005840"/>
          </a:xfrm>
          <a:prstGeom prst="rect">
            <a:avLst/>
          </a:prstGeom>
          <a:noFill/>
          <a:ln/>
        </p:spPr>
        <p:txBody>
          <a:bodyPr wrap="square" lIns="0" tIns="0" rIns="0" bIns="0" rtlCol="0" anchor="t"/>
          <a:lstStyle/>
          <a:p>
            <a:pPr indent="0" marL="0">
              <a:buNone/>
            </a:pPr>
            <a:r>
              <a:rPr lang="en-US" sz="1100" dirty="0">
                <a:solidFill>
                  <a:srgbClr val="C8C8C8"/>
                </a:solidFill>
                <a:latin typeface="Cambria" pitchFamily="34" charset="0"/>
                <a:ea typeface="Cambria" pitchFamily="34" charset="-122"/>
                <a:cs typeface="Cambria" pitchFamily="34" charset="-120"/>
              </a:rPr>
              <a:t>Coverage moves in opposite directions on the two axes: it rises from 0.7795 to 0.8412 across realised-volatility terciles and falls from 0.8342 to 0.7588 across the VIX threshold. The terciles are backward-looking and cut per country; the VIX is contemporaneous and global, and only 12 months are classified as stressed by both. The two axes therefore separate different phases rather than different intensities: the VIX threshold marks the onset of stress, the top tercile its persistence. The online recalibrators lag at the onset and overshoot once stress persists. Skill falls on both axes.</a:t>
            </a:r>
            <a:endParaRPr lang="en-US" sz="1100" dirty="0"/>
          </a:p>
        </p:txBody>
      </p:sp>
      <p:sp>
        <p:nvSpPr>
          <p:cNvPr id="9" name="Text 5"/>
          <p:cNvSpPr/>
          <p:nvPr/>
        </p:nvSpPr>
        <p:spPr>
          <a:xfrm>
            <a:off x="685800" y="4434840"/>
            <a:ext cx="10820095"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RANK STABILITY OF THE TWELVE BEST PACKAGES AGAINST THE OVERALL RANKING</a:t>
            </a:r>
            <a:endParaRPr lang="en-US" sz="1000" dirty="0"/>
          </a:p>
        </p:txBody>
      </p:sp>
      <p:graphicFrame>
        <p:nvGraphicFramePr>
          <p:cNvPr id="55" name="Table 2"/>
          <p:cNvGraphicFramePr>
            <a:graphicFrameLocks noGrp="1"/>
          </p:cNvGraphicFramePr>
          <p:nvPr>
            <p:extLst>
              <p:ext uri="{D42A27DB-BD31-4B8C-83A1-F6EECF244321}">
                <p14:modId xmlns:p14="http://schemas.microsoft.com/office/powerpoint/2010/main" val="1579011935"/>
              </p:ext>
            </p:extLst>
          </p:nvPr>
        </p:nvGraphicFramePr>
        <p:xfrm>
          <a:off x="685800" y="4690872"/>
          <a:ext cx="10820095" cy="914400"/>
        </p:xfrm>
        <a:graphic>
          <a:graphicData uri="http://schemas.openxmlformats.org/drawingml/2006/table">
            <a:tbl>
              <a:tblPr/>
              <a:tblGrid>
                <a:gridCol w="1691640"/>
                <a:gridCol w="1051560"/>
                <a:gridCol w="914400"/>
                <a:gridCol w="1691640"/>
                <a:gridCol w="4297680"/>
                <a:gridCol w="1170432"/>
              </a:tblGrid>
              <a:tr h="274320">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Regime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Spearman</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p</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Largest rank change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Leading package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Its skill</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74320">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Stressed tercile</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58C4DD"/>
                          </a:solidFill>
                          <a:latin typeface="Consolas" pitchFamily="34" charset="0"/>
                          <a:ea typeface="Consolas" pitchFamily="34" charset="-122"/>
                          <a:cs typeface="Consolas" pitchFamily="34" charset="-120"/>
                        </a:rPr>
                        <a:t>+0.846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0.0005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tirex2/ZS/cqr_static</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+0.1820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VIX ≤ 20</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58C4DD"/>
                          </a:solidFill>
                          <a:latin typeface="Consolas" pitchFamily="34" charset="0"/>
                          <a:ea typeface="Consolas" pitchFamily="34" charset="-122"/>
                          <a:cs typeface="Consolas" pitchFamily="34" charset="-120"/>
                        </a:rPr>
                        <a:t>+0.867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0.0003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tirex/ZS/native</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+0.1975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Calm tercile</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+0.490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0.1063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lstm_const/G/agaci_cqr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+0.1894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VIX &gt; 20</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+0.399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0.1993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lgbm/G/decay_ocp_cqr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+0.0797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11" name="Text 6"/>
          <p:cNvSpPr/>
          <p:nvPr/>
        </p:nvSpPr>
        <p:spPr>
          <a:xfrm>
            <a:off x="685800" y="6144768"/>
            <a:ext cx="10820095" cy="457200"/>
          </a:xfrm>
          <a:prstGeom prst="rect">
            <a:avLst/>
          </a:prstGeom>
          <a:noFill/>
          <a:ln/>
        </p:spPr>
        <p:txBody>
          <a:bodyPr wrap="square" lIns="0" tIns="0" rIns="0" bIns="0" rtlCol="0" anchor="t"/>
          <a:lstStyle/>
          <a:p>
            <a:pPr indent="0" marL="0">
              <a:buNone/>
            </a:pPr>
            <a:r>
              <a:rPr lang="en-US" sz="950" dirty="0">
                <a:solidFill>
                  <a:srgbClr val="7A7F87"/>
                </a:solidFill>
                <a:latin typeface="Cambria" pitchFamily="34" charset="0"/>
                <a:ea typeface="Cambria" pitchFamily="34" charset="-122"/>
                <a:cs typeface="Cambria" pitchFamily="34" charset="-120"/>
              </a:rPr>
              <a:t>The overall ranking survives persistent stress but not its onset. tirex2/ZS/cqr_static falls from first to eighth under high VIX (skill +0.0219 for the decay_ocp variant, +0.0191 for cqr_static) and arma/L/dtaci_cqr rises from twelfth to sixth. The pre-registered complexity advantage shrinks from +0.1026 to +0.0251; decomposed, that is carried entirely by the zero-shot arm (+0.1315 → +0.0254), while trained models go +0.0143 → −0.0211.</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0C0F"/>
        </a:solidFill>
      </p:bgPr>
    </p:bg>
    <p:spTree>
      <p:nvGrpSpPr>
        <p:cNvPr id="1" name=""/>
        <p:cNvGrpSpPr/>
        <p:nvPr/>
      </p:nvGrpSpPr>
      <p:grpSpPr>
        <a:xfrm>
          <a:off x="0" y="0"/>
          <a:ext cx="0" cy="0"/>
          <a:chOff x="0" y="0"/>
          <a:chExt cx="0" cy="0"/>
        </a:xfrm>
      </p:grpSpPr>
      <p:sp>
        <p:nvSpPr>
          <p:cNvPr id="2" name="Text 0"/>
          <p:cNvSpPr/>
          <p:nvPr/>
        </p:nvSpPr>
        <p:spPr>
          <a:xfrm>
            <a:off x="685800" y="365760"/>
            <a:ext cx="10820095" cy="5029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Limitations</a:t>
            </a:r>
            <a:endParaRPr lang="en-US" sz="2700" dirty="0"/>
          </a:p>
        </p:txBody>
      </p:sp>
      <p:sp>
        <p:nvSpPr>
          <p:cNvPr id="3" name="Text 1"/>
          <p:cNvSpPr/>
          <p:nvPr/>
        </p:nvSpPr>
        <p:spPr>
          <a:xfrm>
            <a:off x="685800" y="896112"/>
            <a:ext cx="10820095" cy="256032"/>
          </a:xfrm>
          <a:prstGeom prst="rect">
            <a:avLst/>
          </a:prstGeom>
          <a:noFill/>
          <a:ln/>
        </p:spPr>
        <p:txBody>
          <a:bodyPr wrap="square" lIns="0" tIns="0" rIns="0" bIns="0" rtlCol="0" anchor="ctr"/>
          <a:lstStyle/>
          <a:p>
            <a:pPr indent="0" marL="0">
              <a:buNone/>
            </a:pPr>
            <a:r>
              <a:rPr lang="en-US" sz="1050" dirty="0">
                <a:solidFill>
                  <a:srgbClr val="7A7F87"/>
                </a:solidFill>
                <a:latin typeface="Consolas" pitchFamily="34" charset="0"/>
                <a:ea typeface="Consolas" pitchFamily="34" charset="-122"/>
                <a:cs typeface="Consolas" pitchFamily="34" charset="-120"/>
              </a:rPr>
              <a:t>stated as constraints on reach, not as caveats on direction</a:t>
            </a:r>
            <a:endParaRPr lang="en-US" sz="10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85800" y="1298448"/>
          <a:ext cx="10820095" cy="914400"/>
        </p:xfrm>
        <a:graphic>
          <a:graphicData uri="http://schemas.openxmlformats.org/drawingml/2006/table">
            <a:tbl>
              <a:tblPr/>
              <a:tblGrid>
                <a:gridCol w="365760"/>
                <a:gridCol w="2103120"/>
                <a:gridCol w="5120640"/>
                <a:gridCol w="3227832"/>
              </a:tblGrid>
              <a:tr h="749808">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Limitation</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Evidence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Consequence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749808">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FFFFFF"/>
                          </a:solidFill>
                          <a:latin typeface="Cambria" pitchFamily="34" charset="0"/>
                          <a:ea typeface="Cambria" pitchFamily="34" charset="-122"/>
                          <a:cs typeface="Cambria" pitchFamily="34" charset="-120"/>
                        </a:rPr>
                        <a:t>Pre-training contamination of the leading family</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TiRex-2 released 2026-07-01, cutoff undocumented, test window ends 2026-04. Against it: the point forecast is not better (panel t −0.498 with demonstrated power), the advantage sits entirely in the width, and it vanishes at high VIX (0.1255 → −0.0025).</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ambria" pitchFamily="34" charset="0"/>
                          <a:ea typeface="Cambria" pitchFamily="34" charset="-122"/>
                          <a:cs typeface="Cambria" pitchFamily="34" charset="-120"/>
                        </a:rPr>
                        <a:t>none of the three is proof; without a documented cutoff the question is not empirically decidable</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749808">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FFFFFF"/>
                          </a:solidFill>
                          <a:latin typeface="Cambria" pitchFamily="34" charset="0"/>
                          <a:ea typeface="Cambria" pitchFamily="34" charset="-122"/>
                          <a:cs typeface="Cambria" pitchFamily="34" charset="-120"/>
                        </a:rPr>
                        <a:t>The comparative inference has little power</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0 of 66 cross-model contrasts FDR-significant, smallest median q 0.185. MCS retains 15 of 26 packages in all ten countries; FI and FR exclude none.</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ambria" pitchFamily="34" charset="0"/>
                          <a:ea typeface="Cambria" pitchFamily="34" charset="-122"/>
                          <a:cs typeface="Cambria" pitchFamily="34" charset="-120"/>
                        </a:rPr>
                        <a:t>the ranking is descriptive; only the coarse grouping is stable across robustness cuts</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749808">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FFFFFF"/>
                          </a:solidFill>
                          <a:latin typeface="Cambria" pitchFamily="34" charset="0"/>
                          <a:ea typeface="Cambria" pitchFamily="34" charset="-122"/>
                          <a:cs typeface="Cambria" pitchFamily="34" charset="-120"/>
                        </a:rPr>
                        <a:t>Selection is optimistic</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each package is chosen as the best of its family on the same test data on which it is then compared, and unequally so: lstm from 105 admissible packages, rw from 9.</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ambria" pitchFamily="34" charset="0"/>
                          <a:ea typeface="Cambria" pitchFamily="34" charset="-122"/>
                          <a:cs typeface="Cambria" pitchFamily="34" charset="-120"/>
                        </a:rPr>
                        <a:t>cross-model figures are upper bounds on the true separation</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749808">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FFFFFF"/>
                          </a:solidFill>
                          <a:latin typeface="Cambria" pitchFamily="34" charset="0"/>
                          <a:ea typeface="Cambria" pitchFamily="34" charset="-122"/>
                          <a:cs typeface="Cambria" pitchFamily="34" charset="-120"/>
                        </a:rPr>
                        <a:t>The neural results are seed-fragile</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in 51.7 % of neural combinations the seed span exceeds |skill|; restricting to admissible combinations raises this to 58.6 %.</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ambria" pitchFamily="34" charset="0"/>
                          <a:ea typeface="Cambria" pitchFamily="34" charset="-122"/>
                          <a:cs typeface="Cambria" pitchFamily="34" charset="-120"/>
                        </a:rPr>
                        <a:t>no rank claim is made for those combinations, per the pre-registered rule</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749808">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FFFFFF"/>
                          </a:solidFill>
                          <a:latin typeface="Cambria" pitchFamily="34" charset="0"/>
                          <a:ea typeface="Cambria" pitchFamily="34" charset="-122"/>
                          <a:cs typeface="Cambria" pitchFamily="34" charset="-120"/>
                        </a:rPr>
                        <a:t>One country carries a third of the lead</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excluding Ireland leaves the ranking stable (Spearman 0.939) but lowers the level by 0.021 on average and 0.043 for the leading package. Ireland has the highest median skill of the panel, 0.231.</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ambria" pitchFamily="34" charset="0"/>
                          <a:ea typeface="Cambria" pitchFamily="34" charset="-122"/>
                          <a:cs typeface="Cambria" pitchFamily="34" charset="-120"/>
                        </a:rPr>
                        <a:t>absolute skill levels are Ireland-dependent; the ordering is not</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749808">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00" dirty="0">
                          <a:solidFill>
                            <a:srgbClr val="FFFFFF"/>
                          </a:solidFill>
                          <a:latin typeface="Cambria" pitchFamily="34" charset="0"/>
                          <a:ea typeface="Cambria" pitchFamily="34" charset="-122"/>
                          <a:cs typeface="Cambria" pitchFamily="34" charset="-120"/>
                        </a:rPr>
                        <a:t>Conditional calibration is broadly violated</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the DQ test rejects 49.3 % of cells, driven almost entirely by the width regressor.</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ambria" pitchFamily="34" charset="0"/>
                          <a:ea typeface="Cambria" pitchFamily="34" charset="-122"/>
                          <a:cs typeface="Cambria" pitchFamily="34" charset="-120"/>
                        </a:rPr>
                        <a:t>admissibility establishes marginal, not conditional, validity</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0C0F"/>
        </a:solidFill>
      </p:bgPr>
    </p:bg>
    <p:spTree>
      <p:nvGrpSpPr>
        <p:cNvPr id="1" name=""/>
        <p:cNvGrpSpPr/>
        <p:nvPr/>
      </p:nvGrpSpPr>
      <p:grpSpPr>
        <a:xfrm>
          <a:off x="0" y="0"/>
          <a:ext cx="0" cy="0"/>
          <a:chOff x="0" y="0"/>
          <a:chExt cx="0" cy="0"/>
        </a:xfrm>
      </p:grpSpPr>
      <p:sp>
        <p:nvSpPr>
          <p:cNvPr id="2" name="Text 0"/>
          <p:cNvSpPr/>
          <p:nvPr/>
        </p:nvSpPr>
        <p:spPr>
          <a:xfrm>
            <a:off x="685800" y="365760"/>
            <a:ext cx="10820095" cy="5029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Conclusions and next steps</a:t>
            </a:r>
            <a:endParaRPr lang="en-US" sz="2700" dirty="0"/>
          </a:p>
        </p:txBody>
      </p:sp>
      <p:sp>
        <p:nvSpPr>
          <p:cNvPr id="3" name="Text 1"/>
          <p:cNvSpPr/>
          <p:nvPr/>
        </p:nvSpPr>
        <p:spPr>
          <a:xfrm>
            <a:off x="685800" y="1298448"/>
            <a:ext cx="10820095"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CONCLUSIONS</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85800" y="1554480"/>
          <a:ext cx="10820095" cy="914400"/>
        </p:xfrm>
        <a:graphic>
          <a:graphicData uri="http://schemas.openxmlformats.org/drawingml/2006/table">
            <a:tbl>
              <a:tblPr/>
              <a:tblGrid>
                <a:gridCol w="365760"/>
                <a:gridCol w="7315200"/>
                <a:gridCol w="3136392"/>
              </a:tblGrid>
              <a:tr h="448056">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Conclusion</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Supporting figure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448056">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One-month changes in euro-area sovereign spreads carry no exploitable point-forecast signal. Effort on the conditional mean does not pay.</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best MAE ratio 0.997; 0 of 10 countries significant</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448056">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Raw model quantiles are not usable as risk intervals without recalibration: they are valid in 13.2 % of cases and systematically too wide.</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mean coverage 0.872 against 0.800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448056">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The recalibration method is as consequential as the model choice, and is the cheaper lever of the two.</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skill spans −0.044 to +0.146 within one model</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448056">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The leading package is a zero-shot foundation model, but its lead over the classical benchmark is not statistically separable.</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0.146 vs 0.085; 0 of 66 contrasts significant</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448056">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Adding 17 macro covariates changes nothing measurable at this horizon; the models trained on this panel never gained a durable edge.</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median Δ skill +0.0036; panel t −0.75</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448056">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Validation should target the onset of stress, not the average. The best overall package is not the best when stress begins.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rank 1 → 8 under VIX &gt; 20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5" name="Text 2"/>
          <p:cNvSpPr/>
          <p:nvPr/>
        </p:nvSpPr>
        <p:spPr>
          <a:xfrm>
            <a:off x="685800" y="4892040"/>
            <a:ext cx="10820095"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NEXT STEPS, EACH TIED TO A RESULT ABOVE</a:t>
            </a:r>
            <a:endParaRPr lang="en-US" sz="1000" dirty="0"/>
          </a:p>
        </p:txBody>
      </p:sp>
      <p:graphicFrame>
        <p:nvGraphicFramePr>
          <p:cNvPr id="41" name="Table 1"/>
          <p:cNvGraphicFramePr>
            <a:graphicFrameLocks noGrp="1"/>
          </p:cNvGraphicFramePr>
          <p:nvPr>
            <p:extLst>
              <p:ext uri="{D42A27DB-BD31-4B8C-83A1-F6EECF244321}">
                <p14:modId xmlns:p14="http://schemas.microsoft.com/office/powerpoint/2010/main" val="1579011935"/>
              </p:ext>
            </p:extLst>
          </p:nvPr>
        </p:nvGraphicFramePr>
        <p:xfrm>
          <a:off x="685800" y="5148072"/>
          <a:ext cx="10820095" cy="914400"/>
        </p:xfrm>
        <a:graphic>
          <a:graphicData uri="http://schemas.openxmlformats.org/drawingml/2006/table">
            <a:tbl>
              <a:tblPr/>
              <a:tblGrid>
                <a:gridCol w="3383280"/>
                <a:gridCol w="7434072"/>
              </a:tblGrid>
              <a:tr h="338328">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Step</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Motivation</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338328">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An asymmetric or two-sided score family</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the CQR score is symmetric by construction and cannot represent the measured 37 % penalty asymmetry</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38328">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An evaluation window after the TiRex-2 release</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the only clean way to settle the contamination question in limitation 1</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38328">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Width-conditional calibration</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the DQ decomposition locates the failure in the width regressor, where all fourteen methods break</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0C0F"/>
        </a:solidFill>
      </p:bgPr>
    </p:bg>
    <p:spTree>
      <p:nvGrpSpPr>
        <p:cNvPr id="1" name=""/>
        <p:cNvGrpSpPr/>
        <p:nvPr/>
      </p:nvGrpSpPr>
      <p:grpSpPr>
        <a:xfrm>
          <a:off x="0" y="0"/>
          <a:ext cx="0" cy="0"/>
          <a:chOff x="0" y="0"/>
          <a:chExt cx="0" cy="0"/>
        </a:xfrm>
      </p:grpSpPr>
      <p:sp>
        <p:nvSpPr>
          <p:cNvPr id="2" name="Text 0"/>
          <p:cNvSpPr/>
          <p:nvPr/>
        </p:nvSpPr>
        <p:spPr>
          <a:xfrm>
            <a:off x="685800" y="365760"/>
            <a:ext cx="10820095" cy="5029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Appendix A — covariate construction and sources</a:t>
            </a:r>
            <a:endParaRPr lang="en-US" sz="2700" dirty="0"/>
          </a:p>
        </p:txBody>
      </p:sp>
      <p:sp>
        <p:nvSpPr>
          <p:cNvPr id="3" name="Text 1"/>
          <p:cNvSpPr/>
          <p:nvPr/>
        </p:nvSpPr>
        <p:spPr>
          <a:xfrm>
            <a:off x="685800" y="896112"/>
            <a:ext cx="10820095" cy="256032"/>
          </a:xfrm>
          <a:prstGeom prst="rect">
            <a:avLst/>
          </a:prstGeom>
          <a:noFill/>
          <a:ln/>
        </p:spPr>
        <p:txBody>
          <a:bodyPr wrap="square" lIns="0" tIns="0" rIns="0" bIns="0" rtlCol="0" anchor="ctr"/>
          <a:lstStyle/>
          <a:p>
            <a:pPr indent="0" marL="0">
              <a:buNone/>
            </a:pPr>
            <a:r>
              <a:rPr lang="en-US" sz="1050" dirty="0">
                <a:solidFill>
                  <a:srgbClr val="7A7F87"/>
                </a:solidFill>
                <a:latin typeface="Consolas" pitchFamily="34" charset="0"/>
                <a:ea typeface="Consolas" pitchFamily="34" charset="-122"/>
                <a:cs typeface="Consolas" pitchFamily="34" charset="-120"/>
              </a:rPr>
              <a:t>local features enter as differentials against Germany · lags in the main deck, slide 5</a:t>
            </a:r>
            <a:endParaRPr lang="en-US" sz="10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85800" y="1371600"/>
          <a:ext cx="10820095" cy="914400"/>
        </p:xfrm>
        <a:graphic>
          <a:graphicData uri="http://schemas.openxmlformats.org/drawingml/2006/table">
            <a:tbl>
              <a:tblPr/>
              <a:tblGrid>
                <a:gridCol w="320040"/>
                <a:gridCol w="1965960"/>
                <a:gridCol w="2423160"/>
                <a:gridCol w="4343400"/>
                <a:gridCol w="1764792"/>
              </a:tblGrid>
              <a:tr h="233172">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Identifier</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Description</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Construction</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Source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33172">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1</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spread_lag</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lagged own spread</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s(i, t−1)</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ambria" pitchFamily="34" charset="0"/>
                          <a:ea typeface="Cambria" pitchFamily="34" charset="-122"/>
                          <a:cs typeface="Cambria" pitchFamily="34" charset="-120"/>
                        </a:rPr>
                        <a:t>Afonso 2015</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33172">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2</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vix_log</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log VIX</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log(VIX)</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ambria" pitchFamily="34" charset="0"/>
                          <a:ea typeface="Cambria" pitchFamily="34" charset="-122"/>
                          <a:cs typeface="Cambria" pitchFamily="34" charset="-120"/>
                        </a:rPr>
                        <a:t>Afonso 2015</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33172">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3</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us_baa_aaa</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Baa − Aaa corporate spread</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Moody's Baa − Aaa</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ambria" pitchFamily="34" charset="0"/>
                          <a:ea typeface="Cambria" pitchFamily="34" charset="-122"/>
                          <a:cs typeface="Cambria" pitchFamily="34" charset="-120"/>
                        </a:rPr>
                        <a:t>Bernoth 2004</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33172">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4</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us_aaa_treasury</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US corporate − Treasury</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Moody's Aaa − 10y UST</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ambria" pitchFamily="34" charset="0"/>
                          <a:ea typeface="Cambria" pitchFamily="34" charset="-122"/>
                          <a:cs typeface="Cambria" pitchFamily="34" charset="-120"/>
                        </a:rPr>
                        <a:t>Codogno 2003</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33172">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5</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epu_log</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log EPU Europe</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log(EPU)</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ambria" pitchFamily="34" charset="0"/>
                          <a:ea typeface="Cambria" pitchFamily="34" charset="-122"/>
                          <a:cs typeface="Cambria" pitchFamily="34" charset="-120"/>
                        </a:rPr>
                        <a:t>Baker 2016</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33172">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debt_gdp</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relative debt/GDP</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(debt/GDP)i − (debt/GDP)DE</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ambria" pitchFamily="34" charset="0"/>
                          <a:ea typeface="Cambria" pitchFamily="34" charset="-122"/>
                          <a:cs typeface="Cambria" pitchFamily="34" charset="-120"/>
                        </a:rPr>
                        <a:t>Afonso 2015</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33172">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7</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debt_gdp_sq</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relative debt/GDP squared</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square of #6</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ambria" pitchFamily="34" charset="0"/>
                          <a:ea typeface="Cambria" pitchFamily="34" charset="-122"/>
                          <a:cs typeface="Cambria" pitchFamily="34" charset="-120"/>
                        </a:rPr>
                        <a:t>Afonso 2015</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33172">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8</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vix_log_x_debt</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international risk × debt</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(vix_log − exp. mean) × debt_gdp(t−4)</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ambria" pitchFamily="34" charset="0"/>
                          <a:ea typeface="Cambria" pitchFamily="34" charset="-122"/>
                          <a:cs typeface="Cambria" pitchFamily="34" charset="-120"/>
                        </a:rPr>
                        <a:t>Afonso 2015</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33172">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9</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us_aaa_treasury_x_debt</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US risk × debt</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(us_aaa_treasury − exp. mean) × debt_gdp(t−4)</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ambria" pitchFamily="34" charset="0"/>
                          <a:ea typeface="Cambria" pitchFamily="34" charset="-122"/>
                          <a:cs typeface="Cambria" pitchFamily="34" charset="-120"/>
                        </a:rPr>
                        <a:t>Codogno 2003</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33172">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10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fiscal_balance</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relative fiscal balance</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4Q-mean(B9), rel. DE</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ambria" pitchFamily="34" charset="0"/>
                          <a:ea typeface="Cambria" pitchFamily="34" charset="-122"/>
                          <a:cs typeface="Cambria" pitchFamily="34" charset="-120"/>
                        </a:rPr>
                        <a:t>Afonso 2015</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33172">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11</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debt_service_rev</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interest / revenue</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4Q-mean(D41PAY) / 4Q-mean(TR), rel. DE</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ambria" pitchFamily="34" charset="0"/>
                          <a:ea typeface="Cambria" pitchFamily="34" charset="-122"/>
                          <a:cs typeface="Cambria" pitchFamily="34" charset="-120"/>
                        </a:rPr>
                        <a:t>Bernoth 2004</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33172">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12</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ip_growth_yoy</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industrial production growth</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YoY % growth of IP, rel. DE</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ambria" pitchFamily="34" charset="0"/>
                          <a:ea typeface="Cambria" pitchFamily="34" charset="-122"/>
                          <a:cs typeface="Cambria" pitchFamily="34" charset="-120"/>
                        </a:rPr>
                        <a:t>Afonso 2015</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33172">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13</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reer_log</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log REER</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log(REER)i − log(REER)DE</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ambria" pitchFamily="34" charset="0"/>
                          <a:ea typeface="Cambria" pitchFamily="34" charset="-122"/>
                          <a:cs typeface="Cambria" pitchFamily="34" charset="-120"/>
                        </a:rPr>
                        <a:t>Afonso 2015</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33172">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14</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liquidity_share</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relative market size</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debt(i) / Σ debt(j), 11 countries incl. DE</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ambria" pitchFamily="34" charset="0"/>
                          <a:ea typeface="Cambria" pitchFamily="34" charset="-122"/>
                          <a:cs typeface="Cambria" pitchFamily="34" charset="-120"/>
                        </a:rPr>
                        <a:t>Bernoth 2004</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33172">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15</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target2_gdp</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TARGET2/GDP</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(TARGET2 / GDP) × 100</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ambria" pitchFamily="34" charset="0"/>
                          <a:ea typeface="Cambria" pitchFamily="34" charset="-122"/>
                          <a:cs typeface="Cambria" pitchFamily="34" charset="-120"/>
                        </a:rPr>
                        <a:t>De Grauwe 2013</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33172">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16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pc2_core_periph</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2nd principal component</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PC2 score, expanding refit, min. 36 months</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ambria" pitchFamily="34" charset="0"/>
                          <a:ea typeface="Cambria" pitchFamily="34" charset="-122"/>
                          <a:cs typeface="Cambria" pitchFamily="34" charset="-120"/>
                        </a:rPr>
                        <a:t>Afonso 2015</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33172">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17</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rating_num</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sovereign rating</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rating(i) − rating(DE), scale 1–17</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7A7F87"/>
                          </a:solidFill>
                          <a:latin typeface="Cambria" pitchFamily="34" charset="0"/>
                          <a:ea typeface="Cambria" pitchFamily="34" charset="-122"/>
                          <a:cs typeface="Cambria" pitchFamily="34" charset="-120"/>
                        </a:rPr>
                        <a:t>Afonso 2012</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5" name="Text 2"/>
          <p:cNvSpPr/>
          <p:nvPr/>
        </p:nvSpPr>
        <p:spPr>
          <a:xfrm>
            <a:off x="685800" y="5623560"/>
            <a:ext cx="10820095" cy="731520"/>
          </a:xfrm>
          <a:prstGeom prst="rect">
            <a:avLst/>
          </a:prstGeom>
          <a:noFill/>
          <a:ln/>
        </p:spPr>
        <p:txBody>
          <a:bodyPr wrap="square" lIns="0" tIns="0" rIns="0" bIns="0" rtlCol="0" anchor="t"/>
          <a:lstStyle/>
          <a:p>
            <a:pPr indent="0" marL="0">
              <a:buNone/>
            </a:pPr>
            <a:r>
              <a:rPr lang="en-US" sz="950" dirty="0">
                <a:solidFill>
                  <a:srgbClr val="7A7F87"/>
                </a:solidFill>
                <a:latin typeface="Cambria" pitchFamily="34" charset="0"/>
                <a:ea typeface="Cambria" pitchFamily="34" charset="-122"/>
                <a:cs typeface="Cambria" pitchFamily="34" charset="-120"/>
              </a:rPr>
              <a:t>Substitutions forced by data availability: realised debt and fiscal balance instead of the expected values used in the source paper; monthly industrial production as a GDP proxy, since GDP is quarterly; non-seasonally-adjusted fiscal series with a trailing four-quarter mean, because adjusted series are not published for all ten countries. Bid-ask spreads and the US high-yield OAS were not available without a licence.</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0C0F"/>
        </a:solidFill>
      </p:bgPr>
    </p:bg>
    <p:spTree>
      <p:nvGrpSpPr>
        <p:cNvPr id="1" name=""/>
        <p:cNvGrpSpPr/>
        <p:nvPr/>
      </p:nvGrpSpPr>
      <p:grpSpPr>
        <a:xfrm>
          <a:off x="0" y="0"/>
          <a:ext cx="0" cy="0"/>
          <a:chOff x="0" y="0"/>
          <a:chExt cx="0" cy="0"/>
        </a:xfrm>
      </p:grpSpPr>
      <p:sp>
        <p:nvSpPr>
          <p:cNvPr id="2" name="Text 0"/>
          <p:cNvSpPr/>
          <p:nvPr/>
        </p:nvSpPr>
        <p:spPr>
          <a:xfrm>
            <a:off x="685800" y="365760"/>
            <a:ext cx="10820095" cy="5029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Appendix B — the fourteen recalibration methods</a:t>
            </a:r>
            <a:endParaRPr lang="en-US" sz="2700" dirty="0"/>
          </a:p>
        </p:txBody>
      </p:sp>
      <p:sp>
        <p:nvSpPr>
          <p:cNvPr id="3" name="Text 1"/>
          <p:cNvSpPr/>
          <p:nvPr/>
        </p:nvSpPr>
        <p:spPr>
          <a:xfrm>
            <a:off x="685800" y="896112"/>
            <a:ext cx="10820095" cy="256032"/>
          </a:xfrm>
          <a:prstGeom prst="rect">
            <a:avLst/>
          </a:prstGeom>
          <a:noFill/>
          <a:ln/>
        </p:spPr>
        <p:txBody>
          <a:bodyPr wrap="square" lIns="0" tIns="0" rIns="0" bIns="0" rtlCol="0" anchor="ctr"/>
          <a:lstStyle/>
          <a:p>
            <a:pPr indent="0" marL="0">
              <a:buNone/>
            </a:pPr>
            <a:r>
              <a:rPr lang="en-US" sz="1050" dirty="0">
                <a:solidFill>
                  <a:srgbClr val="7A7F87"/>
                </a:solidFill>
                <a:latin typeface="Consolas" pitchFamily="34" charset="0"/>
                <a:ea typeface="Consolas" pitchFamily="34" charset="-122"/>
                <a:cs typeface="Consolas" pitchFamily="34" charset="-120"/>
              </a:rPr>
              <a:t>one shared CQR score · every free parameter fixed ex ante from the source paper</a:t>
            </a:r>
            <a:endParaRPr lang="en-US" sz="10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85800" y="1371600"/>
          <a:ext cx="10820095" cy="914400"/>
        </p:xfrm>
        <a:graphic>
          <a:graphicData uri="http://schemas.openxmlformats.org/drawingml/2006/table">
            <a:tbl>
              <a:tblPr/>
              <a:tblGrid>
                <a:gridCol w="1645920"/>
                <a:gridCol w="5852160"/>
                <a:gridCol w="2313432"/>
                <a:gridCol w="1005840"/>
              </a:tblGrid>
              <a:tr h="274320">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Method</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Mechanism</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Fixed parameters</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Gate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74320">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native</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no recalibration; the raw model quantiles, correction = 0</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0.132</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cqr_static</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split-CQR; threshold set once on the 36 burn-in scores, then frozen</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0.057</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cqr_rolling</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split-CQR recomputed monthly on the rolling pool; weighted CP with binary weights</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window 36</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0.906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mondrian_cqr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category-conditional calibration on terciles of the model's own predicted width</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3 categories</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0.604</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aci_cqr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regulates the effective miscoverage α rather than the threshold</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γ = 0.005</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0.962</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agaci_cqr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online aggregation over 11 ACI experts with different γ, via BOA; aggregates bounds</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K = 11</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0.981</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dtaci_cqr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exponential weights over the same experts, applied to thresholds</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σ = 1/8, η = 2.72</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1.000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spci_cqr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predicts the next score's conditional quantile with a quantile random forest</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w = 12, 100 trees</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1.000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pid_cqr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PI controller on the coverage error, saturating tangent integrator</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η = 0.1·S̄, Csat = 5</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1.000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pid_local_cqr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same, integrator on a rolling window so old error is forgotten faster</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window 12</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1.000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pid_tan_cqr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adds the derivative term via an autoregressive scorecaster</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as pid plus AR</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0.283</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sfogd_cqr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scale-free online gradient descent on the pinball subgradient</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base rate S̄</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1.000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saocp_cqr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strongly adaptive OCP; geometric expert lifetimes, coin-betting aggregation</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g = 8</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0.019</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decay_ocp_cqr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50" dirty="0">
                          <a:solidFill>
                            <a:srgbClr val="C8C8C8"/>
                          </a:solidFill>
                          <a:latin typeface="Cambria" pitchFamily="34" charset="0"/>
                          <a:ea typeface="Cambria" pitchFamily="34" charset="-122"/>
                          <a:cs typeface="Cambria" pitchFamily="34" charset="-120"/>
                        </a:rPr>
                        <a:t>online CP with a decaying step size</a:t>
                      </a:r>
                      <a:endParaRPr lang="en-US" sz="8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800" dirty="0">
                          <a:solidFill>
                            <a:srgbClr val="7A7F87"/>
                          </a:solidFill>
                          <a:latin typeface="Consolas" pitchFamily="34" charset="0"/>
                          <a:ea typeface="Consolas" pitchFamily="34" charset="-122"/>
                          <a:cs typeface="Consolas" pitchFamily="34" charset="-120"/>
                        </a:rPr>
                        <a:t>η0, ε from paper</a:t>
                      </a:r>
                      <a:endParaRPr lang="en-US" sz="8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0.208</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5" name="Text 2"/>
          <p:cNvSpPr/>
          <p:nvPr/>
        </p:nvSpPr>
        <p:spPr>
          <a:xfrm>
            <a:off x="685800" y="5532120"/>
            <a:ext cx="10820095" cy="731520"/>
          </a:xfrm>
          <a:prstGeom prst="rect">
            <a:avLst/>
          </a:prstGeom>
          <a:noFill/>
          <a:ln/>
        </p:spPr>
        <p:txBody>
          <a:bodyPr wrap="square" lIns="0" tIns="0" rIns="0" bIns="0" rtlCol="0" anchor="t"/>
          <a:lstStyle/>
          <a:p>
            <a:pPr indent="0" marL="0">
              <a:buNone/>
            </a:pPr>
            <a:r>
              <a:rPr lang="en-US" sz="950" dirty="0">
                <a:solidFill>
                  <a:srgbClr val="7A7F87"/>
                </a:solidFill>
                <a:latin typeface="Cambria" pitchFamily="34" charset="0"/>
                <a:ea typeface="Cambria" pitchFamily="34" charset="-122"/>
                <a:cs typeface="Cambria" pitchFamily="34" charset="-120"/>
              </a:rPr>
              <a:t>Pool-sensitive methods are cqr_rolling, aci, agaci, dtaci, spci and mondrian; the remaining eight are invariant to the calibration-pool definition by construction, verified at maximum |Δcoverage| = 0 across 530 cells each. saocp's conservative coverage (0.917) follows from its domain: the reference implementation clamps radii at zero, so it can only widen the raw interval.</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0C0F"/>
        </a:solidFill>
      </p:bgPr>
    </p:bg>
    <p:spTree>
      <p:nvGrpSpPr>
        <p:cNvPr id="1" name=""/>
        <p:cNvGrpSpPr/>
        <p:nvPr/>
      </p:nvGrpSpPr>
      <p:grpSpPr>
        <a:xfrm>
          <a:off x="0" y="0"/>
          <a:ext cx="0" cy="0"/>
          <a:chOff x="0" y="0"/>
          <a:chExt cx="0" cy="0"/>
        </a:xfrm>
      </p:grpSpPr>
      <p:sp>
        <p:nvSpPr>
          <p:cNvPr id="2" name="Text 0"/>
          <p:cNvSpPr/>
          <p:nvPr/>
        </p:nvSpPr>
        <p:spPr>
          <a:xfrm>
            <a:off x="685800" y="365760"/>
            <a:ext cx="10820095" cy="5029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Appendix C — how 742 combinations and 21 200 cells arise</a:t>
            </a:r>
            <a:endParaRPr lang="en-US" sz="2700" dirty="0"/>
          </a:p>
        </p:txBody>
      </p:sp>
      <p:sp>
        <p:nvSpPr>
          <p:cNvPr id="3" name="Text 1"/>
          <p:cNvSpPr/>
          <p:nvPr/>
        </p:nvSpPr>
        <p:spPr>
          <a:xfrm>
            <a:off x="685800" y="896112"/>
            <a:ext cx="10820095" cy="256032"/>
          </a:xfrm>
          <a:prstGeom prst="rect">
            <a:avLst/>
          </a:prstGeom>
          <a:noFill/>
          <a:ln/>
        </p:spPr>
        <p:txBody>
          <a:bodyPr wrap="square" lIns="0" tIns="0" rIns="0" bIns="0" rtlCol="0" anchor="ctr"/>
          <a:lstStyle/>
          <a:p>
            <a:pPr indent="0" marL="0">
              <a:buNone/>
            </a:pPr>
            <a:r>
              <a:rPr lang="en-US" sz="1050" dirty="0">
                <a:solidFill>
                  <a:srgbClr val="7A7F87"/>
                </a:solidFill>
                <a:latin typeface="Consolas" pitchFamily="34" charset="0"/>
                <a:ea typeface="Consolas" pitchFamily="34" charset="-122"/>
                <a:cs typeface="Consolas" pitchFamily="34" charset="-120"/>
              </a:rPr>
              <a:t>not a full factorial: 12 × 5 × 3 × 14 would be 2 520</a:t>
            </a:r>
            <a:endParaRPr lang="en-US" sz="1050" dirty="0"/>
          </a:p>
        </p:txBody>
      </p:sp>
      <p:sp>
        <p:nvSpPr>
          <p:cNvPr id="4" name="Text 2"/>
          <p:cNvSpPr/>
          <p:nvPr/>
        </p:nvSpPr>
        <p:spPr>
          <a:xfrm>
            <a:off x="685800" y="1325880"/>
            <a:ext cx="5303520"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742 COMBINATIONS</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85800" y="1581912"/>
          <a:ext cx="5303520" cy="914400"/>
        </p:xfrm>
        <a:graphic>
          <a:graphicData uri="http://schemas.openxmlformats.org/drawingml/2006/table">
            <a:tbl>
              <a:tblPr/>
              <a:tblGrid>
                <a:gridCol w="2331720"/>
                <a:gridCol w="685800"/>
                <a:gridCol w="594360"/>
                <a:gridCol w="914400"/>
                <a:gridCol w="777240"/>
              </a:tblGrid>
              <a:tr h="329184">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Models</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Regimes</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Seeds</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 14 methods</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Total</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329184">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lstm, xlstm</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168 each</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336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29184">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lstm_const, xlstm_const</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126 each</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252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29184">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lgbm</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42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42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29184">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lgbm_const</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28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28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29184">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rw, arma, arma_monthly, tirex, tirex2, tirex2_cov</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14 each</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84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29184">
                <a:tc>
                  <a:txBody>
                    <a:bodyPr/>
                    <a:lstStyle/>
                    <a:p>
                      <a:pPr algn="l" indent="0" marL="0">
                        <a:buNone/>
                      </a:pPr>
                      <a:r>
                        <a:rPr lang="en-US" sz="900" b="1" dirty="0">
                          <a:solidFill>
                            <a:srgbClr val="FFFFFF"/>
                          </a:solidFill>
                          <a:latin typeface="Cambria" pitchFamily="34" charset="0"/>
                          <a:ea typeface="Cambria" pitchFamily="34" charset="-122"/>
                          <a:cs typeface="Cambria" pitchFamily="34" charset="-120"/>
                        </a:rPr>
                        <a:t>sum</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50" b="1" dirty="0">
                          <a:solidFill>
                            <a:srgbClr val="FFFFFF"/>
                          </a:solidFill>
                          <a:latin typeface="Consolas" pitchFamily="34" charset="0"/>
                          <a:ea typeface="Consolas" pitchFamily="34" charset="-122"/>
                          <a:cs typeface="Consolas" pitchFamily="34" charset="-120"/>
                        </a:rPr>
                        <a:t>742</a:t>
                      </a:r>
                      <a:endParaRPr lang="en-US" sz="9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6" name="Text 3"/>
          <p:cNvSpPr/>
          <p:nvPr/>
        </p:nvSpPr>
        <p:spPr>
          <a:xfrm>
            <a:off x="6446520" y="1325880"/>
            <a:ext cx="5056632"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21 200 ROWS IN THE CELL TABLE</a:t>
            </a:r>
            <a:endParaRPr lang="en-US" sz="1000" dirty="0"/>
          </a:p>
        </p:txBody>
      </p:sp>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6446520" y="1581912"/>
          <a:ext cx="5056632" cy="914400"/>
        </p:xfrm>
        <a:graphic>
          <a:graphicData uri="http://schemas.openxmlformats.org/drawingml/2006/table">
            <a:tbl>
              <a:tblPr/>
              <a:tblGrid>
                <a:gridCol w="2194560"/>
                <a:gridCol w="777240"/>
                <a:gridCol w="1170432"/>
                <a:gridCol w="914400"/>
              </a:tblGrid>
              <a:tr h="329184">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Calibration pool</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Methods</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Arithmetic</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Rows</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329184">
                <a:tc>
                  <a:txBody>
                    <a:bodyPr/>
                    <a:lstStyle/>
                    <a:p>
                      <a:pPr algn="l" indent="0" marL="0">
                        <a:buNone/>
                      </a:pPr>
                      <a:r>
                        <a:rPr lang="en-US" sz="900" dirty="0">
                          <a:solidFill>
                            <a:srgbClr val="FFFFFF"/>
                          </a:solidFill>
                          <a:latin typeface="Consolas" pitchFamily="34" charset="0"/>
                          <a:ea typeface="Consolas" pitchFamily="34" charset="-122"/>
                          <a:cs typeface="Consolas" pitchFamily="34" charset="-120"/>
                        </a:rPr>
                        <a:t>rolling(36) — primary</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742 × 10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7 420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29184">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expanding</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742 × 10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7 420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29184">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rolling(24)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318 × 10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3 180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29184">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rolling(48)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318 × 10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3 180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29184">
                <a:tc>
                  <a:txBody>
                    <a:bodyPr/>
                    <a:lstStyle/>
                    <a:p>
                      <a:pPr algn="l" indent="0" marL="0">
                        <a:buNone/>
                      </a:pPr>
                      <a:r>
                        <a:rPr lang="en-US" sz="900" b="1" dirty="0">
                          <a:solidFill>
                            <a:srgbClr val="FFFFFF"/>
                          </a:solidFill>
                          <a:latin typeface="Cambria" pitchFamily="34" charset="0"/>
                          <a:ea typeface="Cambria" pitchFamily="34" charset="-122"/>
                          <a:cs typeface="Cambria" pitchFamily="34" charset="-120"/>
                        </a:rPr>
                        <a:t>sum</a:t>
                      </a:r>
                      <a:endParaRPr lang="en-US" sz="9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50" b="1" dirty="0">
                          <a:solidFill>
                            <a:srgbClr val="FFFFFF"/>
                          </a:solidFill>
                          <a:latin typeface="Consolas" pitchFamily="34" charset="0"/>
                          <a:ea typeface="Consolas" pitchFamily="34" charset="-122"/>
                          <a:cs typeface="Consolas" pitchFamily="34" charset="-120"/>
                        </a:rPr>
                        <a:t>21 200</a:t>
                      </a:r>
                      <a:endParaRPr lang="en-US" sz="9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graphicFrame>
        <p:nvGraphicFramePr>
          <p:cNvPr id="70" name="Table 2"/>
          <p:cNvGraphicFramePr>
            <a:graphicFrameLocks noGrp="1"/>
          </p:cNvGraphicFramePr>
          <p:nvPr>
            <p:extLst>
              <p:ext uri="{D42A27DB-BD31-4B8C-83A1-F6EECF244321}">
                <p14:modId xmlns:p14="http://schemas.microsoft.com/office/powerpoint/2010/main" val="1579011935"/>
              </p:ext>
            </p:extLst>
          </p:nvPr>
        </p:nvGraphicFramePr>
        <p:xfrm>
          <a:off x="685800" y="3931920"/>
          <a:ext cx="10820095" cy="914400"/>
        </p:xfrm>
        <a:graphic>
          <a:graphicData uri="http://schemas.openxmlformats.org/drawingml/2006/table">
            <a:tbl>
              <a:tblPr/>
              <a:tblGrid>
                <a:gridCol w="3840480"/>
                <a:gridCol w="6976872"/>
              </a:tblGrid>
              <a:tr h="384048">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Point</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Detail</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384048">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Only the neural models run three seeds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rw, arma, arma_monthly, lgbm and the zero-shot models are deterministic</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84048">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LightGBM has no GF regime</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gradient boosting has no fine-tuning analogue</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84048">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The zero-shot models have one setting</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no training, so no L/G/GF/GI distinction applies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84048">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318 = 53 × 6</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53 model-regime-seed combinations times the six pool-sensitive methods; the other eight would be byte-identical duplicates across window variants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84048">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All results reported here use the 7 420 primary cells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the other three pools are a robustness check only</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0C0F"/>
        </a:solidFill>
      </p:bgPr>
    </p:bg>
    <p:spTree>
      <p:nvGrpSpPr>
        <p:cNvPr id="1" name=""/>
        <p:cNvGrpSpPr/>
        <p:nvPr/>
      </p:nvGrpSpPr>
      <p:grpSpPr>
        <a:xfrm>
          <a:off x="0" y="0"/>
          <a:ext cx="0" cy="0"/>
          <a:chOff x="0" y="0"/>
          <a:chExt cx="0" cy="0"/>
        </a:xfrm>
      </p:grpSpPr>
      <p:sp>
        <p:nvSpPr>
          <p:cNvPr id="2" name="Text 0"/>
          <p:cNvSpPr/>
          <p:nvPr/>
        </p:nvSpPr>
        <p:spPr>
          <a:xfrm>
            <a:off x="685800" y="365760"/>
            <a:ext cx="10820095" cy="5029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Appendix D — cross-model contrasts and the MCS</a:t>
            </a:r>
            <a:endParaRPr lang="en-US" sz="2700" dirty="0"/>
          </a:p>
        </p:txBody>
      </p:sp>
      <p:sp>
        <p:nvSpPr>
          <p:cNvPr id="3" name="Text 1"/>
          <p:cNvSpPr/>
          <p:nvPr/>
        </p:nvSpPr>
        <p:spPr>
          <a:xfrm>
            <a:off x="685800" y="896112"/>
            <a:ext cx="10820095" cy="256032"/>
          </a:xfrm>
          <a:prstGeom prst="rect">
            <a:avLst/>
          </a:prstGeom>
          <a:noFill/>
          <a:ln/>
        </p:spPr>
        <p:txBody>
          <a:bodyPr wrap="square" lIns="0" tIns="0" rIns="0" bIns="0" rtlCol="0" anchor="ctr"/>
          <a:lstStyle/>
          <a:p>
            <a:pPr indent="0" marL="0">
              <a:buNone/>
            </a:pPr>
            <a:r>
              <a:rPr lang="en-US" sz="1050" dirty="0">
                <a:solidFill>
                  <a:srgbClr val="7A7F87"/>
                </a:solidFill>
                <a:latin typeface="Consolas" pitchFamily="34" charset="0"/>
                <a:ea typeface="Consolas" pitchFamily="34" charset="-122"/>
                <a:cs typeface="Consolas" pitchFamily="34" charset="-120"/>
              </a:rPr>
              <a:t>66 post-hoc pairwise contrasts among the twelve best packages · own FDR family</a:t>
            </a:r>
            <a:endParaRPr lang="en-US" sz="1050" dirty="0"/>
          </a:p>
        </p:txBody>
      </p:sp>
      <p:sp>
        <p:nvSpPr>
          <p:cNvPr id="4" name="Text 2"/>
          <p:cNvSpPr/>
          <p:nvPr/>
        </p:nvSpPr>
        <p:spPr>
          <a:xfrm>
            <a:off x="685800" y="1325880"/>
            <a:ext cx="5303520"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LARGEST EFFECTS, ALL NON-SIGNIFICANT</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85800" y="1581912"/>
          <a:ext cx="5303520" cy="914400"/>
        </p:xfrm>
        <a:graphic>
          <a:graphicData uri="http://schemas.openxmlformats.org/drawingml/2006/table">
            <a:tbl>
              <a:tblPr/>
              <a:tblGrid>
                <a:gridCol w="2514600"/>
                <a:gridCol w="914400"/>
                <a:gridCol w="960120"/>
                <a:gridCol w="914400"/>
              </a:tblGrid>
              <a:tr h="265176">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Pair (row vs column)</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d</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Share row</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Med. q</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65176">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tirex2 vs xlstm_const</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−0.116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0.185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tirex2_cov vs xlstm_const</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−0.111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0.196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tirex vs xlstm_const</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−0.101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0.263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tirex2 vs arma</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−0.074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0.255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tirex2 vs arma_monthly</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−0.067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0.298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tirex2 vs rw</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−0.040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0.568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65176">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tirex2 vs tirex2_cov</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FC6255"/>
                          </a:solidFill>
                          <a:latin typeface="Consolas" pitchFamily="34" charset="0"/>
                          <a:ea typeface="Consolas" pitchFamily="34" charset="-122"/>
                          <a:cs typeface="Consolas" pitchFamily="34" charset="-120"/>
                        </a:rPr>
                        <a:t>−0.000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0.693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6" name="Text 3"/>
          <p:cNvSpPr/>
          <p:nvPr/>
        </p:nvSpPr>
        <p:spPr>
          <a:xfrm>
            <a:off x="6446520" y="1325880"/>
            <a:ext cx="5056632" cy="237744"/>
          </a:xfrm>
          <a:prstGeom prst="rect">
            <a:avLst/>
          </a:prstGeom>
          <a:noFill/>
          <a:ln/>
        </p:spPr>
        <p:txBody>
          <a:bodyPr wrap="square" lIns="0" tIns="0" rIns="0" bIns="0" rtlCol="0" anchor="ctr"/>
          <a:lstStyle/>
          <a:p>
            <a:pPr indent="0" marL="0">
              <a:buNone/>
            </a:pPr>
            <a:r>
              <a:rPr lang="en-US" sz="1000" b="1" spc="50" kern="0" dirty="0">
                <a:solidFill>
                  <a:srgbClr val="58C4DD"/>
                </a:solidFill>
                <a:latin typeface="Consolas" pitchFamily="34" charset="0"/>
                <a:ea typeface="Consolas" pitchFamily="34" charset="-122"/>
                <a:cs typeface="Consolas" pitchFamily="34" charset="-120"/>
              </a:rPr>
              <a:t>MCS BY COUNTRY, α = 0.10, 26 CANDIDATES</a:t>
            </a:r>
            <a:endParaRPr lang="en-US" sz="1000" dirty="0"/>
          </a:p>
        </p:txBody>
      </p:sp>
      <p:graphicFrame>
        <p:nvGraphicFramePr>
          <p:cNvPr id="49" name="Table 1"/>
          <p:cNvGraphicFramePr>
            <a:graphicFrameLocks noGrp="1"/>
          </p:cNvGraphicFramePr>
          <p:nvPr>
            <p:extLst>
              <p:ext uri="{D42A27DB-BD31-4B8C-83A1-F6EECF244321}">
                <p14:modId xmlns:p14="http://schemas.microsoft.com/office/powerpoint/2010/main" val="1579011935"/>
              </p:ext>
            </p:extLst>
          </p:nvPr>
        </p:nvGraphicFramePr>
        <p:xfrm>
          <a:off x="6446520" y="1581912"/>
          <a:ext cx="5056632" cy="914400"/>
        </p:xfrm>
        <a:graphic>
          <a:graphicData uri="http://schemas.openxmlformats.org/drawingml/2006/table">
            <a:tbl>
              <a:tblPr/>
              <a:tblGrid>
                <a:gridCol w="1280160"/>
                <a:gridCol w="1280160"/>
                <a:gridCol w="1325880"/>
                <a:gridCol w="1170432"/>
              </a:tblGrid>
              <a:tr h="233172">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Country</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Set size</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Terminal p</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Excluded</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33172">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FI</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26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0.103</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33172">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FR</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26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0.195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33172">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AT</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25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0.366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33172">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IT</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25</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0.297</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33172">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ES</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24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0.121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33172">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GR</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24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0.189</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33172">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NL</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24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0.406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33172">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PT</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24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0.121</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33172">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BE</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22</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0.326</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4</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33172">
                <a:tc>
                  <a:txBody>
                    <a:bodyPr/>
                    <a:lstStyle/>
                    <a:p>
                      <a:pPr algn="l" indent="0" marL="0">
                        <a:buNone/>
                      </a:pPr>
                      <a:r>
                        <a:rPr lang="en-US" sz="900" dirty="0">
                          <a:solidFill>
                            <a:srgbClr val="C8C8C8"/>
                          </a:solidFill>
                          <a:latin typeface="Consolas" pitchFamily="34" charset="0"/>
                          <a:ea typeface="Consolas" pitchFamily="34" charset="-122"/>
                          <a:cs typeface="Consolas" pitchFamily="34" charset="-120"/>
                        </a:rPr>
                        <a:t>IE</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C8C8C8"/>
                          </a:solidFill>
                          <a:latin typeface="Consolas" pitchFamily="34" charset="0"/>
                          <a:ea typeface="Consolas" pitchFamily="34" charset="-122"/>
                          <a:cs typeface="Consolas" pitchFamily="34" charset="-120"/>
                        </a:rPr>
                        <a:t>18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0.118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900" dirty="0">
                          <a:solidFill>
                            <a:srgbClr val="7A7F87"/>
                          </a:solidFill>
                          <a:latin typeface="Consolas" pitchFamily="34" charset="0"/>
                          <a:ea typeface="Consolas" pitchFamily="34" charset="-122"/>
                          <a:cs typeface="Consolas" pitchFamily="34" charset="-120"/>
                        </a:rPr>
                        <a:t>8</a:t>
                      </a:r>
                      <a:endParaRPr lang="en-US" sz="90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graphicFrame>
        <p:nvGraphicFramePr>
          <p:cNvPr id="73" name="Table 2"/>
          <p:cNvGraphicFramePr>
            <a:graphicFrameLocks noGrp="1"/>
          </p:cNvGraphicFramePr>
          <p:nvPr>
            <p:extLst>
              <p:ext uri="{D42A27DB-BD31-4B8C-83A1-F6EECF244321}">
                <p14:modId xmlns:p14="http://schemas.microsoft.com/office/powerpoint/2010/main" val="1579011935"/>
              </p:ext>
            </p:extLst>
          </p:nvPr>
        </p:nvGraphicFramePr>
        <p:xfrm>
          <a:off x="685800" y="4343400"/>
          <a:ext cx="10820095" cy="914400"/>
        </p:xfrm>
        <a:graphic>
          <a:graphicData uri="http://schemas.openxmlformats.org/drawingml/2006/table">
            <a:tbl>
              <a:tblPr/>
              <a:tblGrid>
                <a:gridCol w="3566160"/>
                <a:gridCol w="7251192"/>
              </a:tblGrid>
              <a:tr h="365760">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Statement</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Figures</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365760">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No pair reaches significance on the median q</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smallest 0.185, median across the 66 pairs 0.564, none below 0.10</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65760">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One level down, some country tests do</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92 of 660 single-country tests fall below q = 0.10, and 52 of the 66 pairs contain at least one</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65760">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The panel statistic has more power</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29 of 66 pairs exceed |t| = 1.96 and 15 exceed 2.58; it averages the correlated countries before testing, and carries no correction for the 66 comparisons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65760">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The MCS is not discriminating</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238 of 260 country-candidate decisions are inclusions, a rate of 0.915; 15 candidates survive in all ten countries</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365760">
                <a:tc>
                  <a:txBody>
                    <a:bodyPr/>
                    <a:lstStyle/>
                    <a:p>
                      <a:pPr algn="l" indent="0" marL="0">
                        <a:buNone/>
                      </a:pPr>
                      <a:r>
                        <a:rPr lang="en-US" sz="950" dirty="0">
                          <a:solidFill>
                            <a:srgbClr val="FFFFFF"/>
                          </a:solidFill>
                          <a:latin typeface="Cambria" pitchFamily="34" charset="0"/>
                          <a:ea typeface="Cambria" pitchFamily="34" charset="-122"/>
                          <a:cs typeface="Cambria" pitchFamily="34" charset="-120"/>
                        </a:rPr>
                        <a:t>Why that is not an implementation fault</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l" indent="0" marL="0">
                        <a:buNone/>
                      </a:pPr>
                      <a:r>
                        <a:rPr lang="en-US" sz="950" dirty="0">
                          <a:solidFill>
                            <a:srgbClr val="C8C8C8"/>
                          </a:solidFill>
                          <a:latin typeface="Cambria" pitchFamily="34" charset="0"/>
                          <a:ea typeface="Cambria" pitchFamily="34" charset="-122"/>
                          <a:cs typeface="Cambria" pitchFamily="34" charset="-120"/>
                        </a:rPr>
                        <a:t>with 127 months and ten correlated countries the Hansen test has little power, and every candidate is already the best of 9 to 30 options, so they sit close together</a:t>
                      </a:r>
                      <a:endParaRPr lang="en-US" sz="95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0C0F"/>
        </a:solidFill>
      </p:bgPr>
    </p:bg>
    <p:spTree>
      <p:nvGrpSpPr>
        <p:cNvPr id="1" name=""/>
        <p:cNvGrpSpPr/>
        <p:nvPr/>
      </p:nvGrpSpPr>
      <p:grpSpPr>
        <a:xfrm>
          <a:off x="0" y="0"/>
          <a:ext cx="0" cy="0"/>
          <a:chOff x="0" y="0"/>
          <a:chExt cx="0" cy="0"/>
        </a:xfrm>
      </p:grpSpPr>
      <p:sp>
        <p:nvSpPr>
          <p:cNvPr id="2" name="Text 0"/>
          <p:cNvSpPr/>
          <p:nvPr/>
        </p:nvSpPr>
        <p:spPr>
          <a:xfrm>
            <a:off x="685800" y="365760"/>
            <a:ext cx="10820095" cy="5029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Appendix E — regime behaviour by recalibration method</a:t>
            </a:r>
            <a:endParaRPr lang="en-US" sz="2700" dirty="0"/>
          </a:p>
        </p:txBody>
      </p:sp>
      <p:sp>
        <p:nvSpPr>
          <p:cNvPr id="3" name="Text 1"/>
          <p:cNvSpPr/>
          <p:nvPr/>
        </p:nvSpPr>
        <p:spPr>
          <a:xfrm>
            <a:off x="685800" y="896112"/>
            <a:ext cx="10820095" cy="256032"/>
          </a:xfrm>
          <a:prstGeom prst="rect">
            <a:avLst/>
          </a:prstGeom>
          <a:noFill/>
          <a:ln/>
        </p:spPr>
        <p:txBody>
          <a:bodyPr wrap="square" lIns="0" tIns="0" rIns="0" bIns="0" rtlCol="0" anchor="ctr"/>
          <a:lstStyle/>
          <a:p>
            <a:pPr indent="0" marL="0">
              <a:buNone/>
            </a:pPr>
            <a:r>
              <a:rPr lang="en-US" sz="1050" dirty="0">
                <a:solidFill>
                  <a:srgbClr val="7A7F87"/>
                </a:solidFill>
                <a:latin typeface="Consolas" pitchFamily="34" charset="0"/>
                <a:ea typeface="Consolas" pitchFamily="34" charset="-122"/>
                <a:cs typeface="Consolas" pitchFamily="34" charset="-120"/>
              </a:rPr>
              <a:t>aggregated over the 485 admissible combinations · target coverage 0.80</a:t>
            </a:r>
            <a:endParaRPr lang="en-US" sz="10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85800" y="1371600"/>
          <a:ext cx="10820095" cy="914400"/>
        </p:xfrm>
        <a:graphic>
          <a:graphicData uri="http://schemas.openxmlformats.org/drawingml/2006/table">
            <a:tbl>
              <a:tblPr/>
              <a:tblGrid>
                <a:gridCol w="1920240"/>
                <a:gridCol w="1600200"/>
                <a:gridCol w="1783080"/>
                <a:gridCol w="1920240"/>
                <a:gridCol w="1920240"/>
                <a:gridCol w="1673352"/>
              </a:tblGrid>
              <a:tr h="274320">
                <a:tc>
                  <a:txBody>
                    <a:bodyPr/>
                    <a:lstStyle/>
                    <a:p>
                      <a:pPr algn="l" indent="0" marL="0">
                        <a:buNone/>
                      </a:pPr>
                      <a:r>
                        <a:rPr lang="en-US" sz="1000" b="1" dirty="0">
                          <a:solidFill>
                            <a:srgbClr val="FFFFFF"/>
                          </a:solidFill>
                          <a:latin typeface="Cambria" pitchFamily="34" charset="0"/>
                          <a:ea typeface="Cambria" pitchFamily="34" charset="-122"/>
                          <a:cs typeface="Cambria" pitchFamily="34" charset="-120"/>
                        </a:rPr>
                        <a:t>Method</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Cov. calm</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Cov. stressed</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Skill VIX ≤ 20</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Skill VIX &gt; 20</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c>
                  <a:txBody>
                    <a:bodyPr/>
                    <a:lstStyle/>
                    <a:p>
                      <a:pPr algn="r" indent="0" marL="0">
                        <a:buNone/>
                      </a:pPr>
                      <a:r>
                        <a:rPr lang="en-US" sz="1000" b="1" dirty="0">
                          <a:solidFill>
                            <a:srgbClr val="FFFFFF"/>
                          </a:solidFill>
                          <a:latin typeface="Cambria" pitchFamily="34" charset="0"/>
                          <a:ea typeface="Cambria" pitchFamily="34" charset="-122"/>
                          <a:cs typeface="Cambria" pitchFamily="34" charset="-120"/>
                        </a:rPr>
                        <a:t>Δ cov. in stress</a:t>
                      </a:r>
                      <a:endParaRPr lang="en-US" sz="1000" dirty="0">
                        <a:latin typeface="Cambria" charset="0"/>
                        <a:ea typeface="Cambria" charset="0"/>
                        <a:cs typeface="Cambria"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15171C"/>
                    </a:solidFill>
                  </a:tcPr>
                </a:tc>
              </a:tr>
              <a:tr h="274320">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native</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0.828</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0.841</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+0.1199</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+0.0587</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+0.0045</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decay_ocp_cqr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0.803</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0.830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+0.0768</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+0.0193</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+0.0146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cqr_static</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0.729</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0.814</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+0.1675</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+0.0191</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+0.0476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cqr_rolling</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0.799</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0.840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+0.0549</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−0.0017</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+0.0182</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aci_cqr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0.786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0.839</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+0.0595</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−0.0058</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+0.0245</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agaci_cqr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0.787</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0.836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+0.0586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−0.0097</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+0.0269</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dtaci_cqr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0.788</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0.851</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+0.0621</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−0.0142</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+0.0309</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pid_cqr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0.773</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0.842</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+0.0716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−0.0176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+0.0303</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pid_local_cqr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0.768</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0.850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+0.0542</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−0.0287</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+0.0366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sfogd_cqr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0.759</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0.845</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+0.0225</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−0.0325</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+0.0382</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mondrian_cqr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0.825</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0.884</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−0.0163</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−0.0546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+0.0286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spci_cqr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0.735</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0.806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+0.0541</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−0.0605</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+0.0402</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saocp_cqr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0.837</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0.874</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+0.0412</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−0.0620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+0.0264</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850" dirty="0">
                          <a:solidFill>
                            <a:srgbClr val="C8C8C8"/>
                          </a:solidFill>
                          <a:latin typeface="Consolas" pitchFamily="34" charset="0"/>
                          <a:ea typeface="Consolas" pitchFamily="34" charset="-122"/>
                          <a:cs typeface="Consolas" pitchFamily="34" charset="-120"/>
                        </a:rPr>
                        <a:t>pid_tan_cqr</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0.803</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C8C8C8"/>
                          </a:solidFill>
                          <a:latin typeface="Consolas" pitchFamily="34" charset="0"/>
                          <a:ea typeface="Consolas" pitchFamily="34" charset="-122"/>
                          <a:cs typeface="Consolas" pitchFamily="34" charset="-120"/>
                        </a:rPr>
                        <a:t>0.831</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−0.0806</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C6255"/>
                          </a:solidFill>
                          <a:latin typeface="Consolas" pitchFamily="34" charset="0"/>
                          <a:ea typeface="Consolas" pitchFamily="34" charset="-122"/>
                          <a:cs typeface="Consolas" pitchFamily="34" charset="-120"/>
                        </a:rPr>
                        <a:t>−0.1199</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7A7F87"/>
                          </a:solidFill>
                          <a:latin typeface="Consolas" pitchFamily="34" charset="0"/>
                          <a:ea typeface="Consolas" pitchFamily="34" charset="-122"/>
                          <a:cs typeface="Consolas" pitchFamily="34" charset="-120"/>
                        </a:rPr>
                        <a:t>+0.0145</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r h="274320">
                <a:tc>
                  <a:txBody>
                    <a:bodyPr/>
                    <a:lstStyle/>
                    <a:p>
                      <a:pPr algn="l" indent="0" marL="0">
                        <a:buNone/>
                      </a:pPr>
                      <a:r>
                        <a:rPr lang="en-US" sz="850" dirty="0">
                          <a:solidFill>
                            <a:srgbClr val="FFFFFF"/>
                          </a:solidFill>
                          <a:latin typeface="Consolas" pitchFamily="34" charset="0"/>
                          <a:ea typeface="Consolas" pitchFamily="34" charset="-122"/>
                          <a:cs typeface="Consolas" pitchFamily="34" charset="-120"/>
                        </a:rPr>
                        <a:t>all methods</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FFFFF"/>
                          </a:solidFill>
                          <a:latin typeface="Consolas" pitchFamily="34" charset="0"/>
                          <a:ea typeface="Consolas" pitchFamily="34" charset="-122"/>
                          <a:cs typeface="Consolas" pitchFamily="34" charset="-120"/>
                        </a:rPr>
                        <a:t>0.780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FFFFF"/>
                          </a:solidFill>
                          <a:latin typeface="Consolas" pitchFamily="34" charset="0"/>
                          <a:ea typeface="Consolas" pitchFamily="34" charset="-122"/>
                          <a:cs typeface="Consolas" pitchFamily="34" charset="-120"/>
                        </a:rPr>
                        <a:t>0.841</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FFFFF"/>
                          </a:solidFill>
                          <a:latin typeface="Consolas" pitchFamily="34" charset="0"/>
                          <a:ea typeface="Consolas" pitchFamily="34" charset="-122"/>
                          <a:cs typeface="Consolas" pitchFamily="34" charset="-120"/>
                        </a:rPr>
                        <a:t>+0.0513</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FFFFF"/>
                          </a:solidFill>
                          <a:latin typeface="Consolas" pitchFamily="34" charset="0"/>
                          <a:ea typeface="Consolas" pitchFamily="34" charset="-122"/>
                          <a:cs typeface="Consolas" pitchFamily="34" charset="-120"/>
                        </a:rPr>
                        <a:t>−0.0222</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c>
                  <a:txBody>
                    <a:bodyPr/>
                    <a:lstStyle/>
                    <a:p>
                      <a:pPr algn="r" indent="0" marL="0">
                        <a:buNone/>
                      </a:pPr>
                      <a:r>
                        <a:rPr lang="en-US" sz="850" dirty="0">
                          <a:solidFill>
                            <a:srgbClr val="FFFFFF"/>
                          </a:solidFill>
                          <a:latin typeface="Consolas" pitchFamily="34" charset="0"/>
                          <a:ea typeface="Consolas" pitchFamily="34" charset="-122"/>
                          <a:cs typeface="Consolas" pitchFamily="34" charset="-120"/>
                        </a:rPr>
                        <a:t>+0.0290</a:t>
                      </a:r>
                      <a:endParaRPr lang="en-US" sz="850" dirty="0">
                        <a:latin typeface="Consolas" charset="0"/>
                        <a:ea typeface="Consolas" charset="0"/>
                        <a:cs typeface="Consolas" charset="0"/>
                      </a:endParaRPr>
                    </a:p>
                  </a:txBody>
                  <a:tcPr marL="91440" marR="91440" marT="45720" marB="45720" anchor="ctr">
                    <a:lnL w="6350" cap="flat" cmpd="sng" algn="ctr">
                      <a:solidFill>
                        <a:srgbClr val="2E323A"/>
                      </a:solidFill>
                      <a:prstDash val="solid"/>
                      <a:round/>
                      <a:headEnd type="none" w="med" len="med"/>
                      <a:tailEnd type="none" w="med" len="med"/>
                    </a:lnL>
                    <a:lnR w="6350" cap="flat" cmpd="sng" algn="ctr">
                      <a:solidFill>
                        <a:srgbClr val="2E323A"/>
                      </a:solidFill>
                      <a:prstDash val="solid"/>
                      <a:round/>
                      <a:headEnd type="none" w="med" len="med"/>
                      <a:tailEnd type="none" w="med" len="med"/>
                    </a:lnR>
                    <a:lnT w="6350" cap="flat" cmpd="sng" algn="ctr">
                      <a:solidFill>
                        <a:srgbClr val="2E323A"/>
                      </a:solidFill>
                      <a:prstDash val="solid"/>
                      <a:round/>
                      <a:headEnd type="none" w="med" len="med"/>
                      <a:tailEnd type="none" w="med" len="med"/>
                    </a:lnT>
                    <a:lnB w="6350" cap="flat" cmpd="sng" algn="ctr">
                      <a:solidFill>
                        <a:srgbClr val="2E323A"/>
                      </a:solidFill>
                      <a:prstDash val="solid"/>
                      <a:round/>
                      <a:headEnd type="none" w="med" len="med"/>
                      <a:tailEnd type="none" w="med" len="med"/>
                    </a:lnB>
                    <a:solidFill>
                      <a:srgbClr val="0B0C0F"/>
                    </a:solidFill>
                  </a:tcPr>
                </a:tc>
              </a:tr>
            </a:tbl>
          </a:graphicData>
        </a:graphic>
      </p:graphicFrame>
      <p:sp>
        <p:nvSpPr>
          <p:cNvPr id="5" name="Text 2"/>
          <p:cNvSpPr/>
          <p:nvPr/>
        </p:nvSpPr>
        <p:spPr>
          <a:xfrm>
            <a:off x="685800" y="5806440"/>
            <a:ext cx="10820095" cy="640080"/>
          </a:xfrm>
          <a:prstGeom prst="rect">
            <a:avLst/>
          </a:prstGeom>
          <a:noFill/>
          <a:ln/>
        </p:spPr>
        <p:txBody>
          <a:bodyPr wrap="square" lIns="0" tIns="0" rIns="0" bIns="0" rtlCol="0" anchor="t"/>
          <a:lstStyle/>
          <a:p>
            <a:pPr indent="0" marL="0">
              <a:buNone/>
            </a:pPr>
            <a:r>
              <a:rPr lang="en-US" sz="950" dirty="0">
                <a:solidFill>
                  <a:srgbClr val="7A7F87"/>
                </a:solidFill>
                <a:latin typeface="Cambria" pitchFamily="34" charset="0"/>
                <a:ea typeface="Cambria" pitchFamily="34" charset="-122"/>
                <a:cs typeface="Cambria" pitchFamily="34" charset="-120"/>
              </a:rPr>
              <a:t>The last column is the change in coverage in the top volatility tercile relative to full-sample coverage, so a positive value means the intervals cover more under stress. The static methods (native, cqr_static, decay_ocp, saocp) react least; the online trackers undercover in calm months and overcover once stress persists, which is the adaptation lag described on slide 18.</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Conformal Prediction Intervals for Sovereign Credit Spreads</dc:title>
  <dc:subject>PptxGenJS Presentation</dc:subject>
  <dc:creator>Felix Neuwirth</dc:creator>
  <cp:lastModifiedBy>Felix Neuwirth</cp:lastModifiedBy>
  <cp:revision>1</cp:revision>
  <dcterms:created xsi:type="dcterms:W3CDTF">2026-08-10T12:59:50Z</dcterms:created>
  <dcterms:modified xsi:type="dcterms:W3CDTF">2026-08-10T12:59:50Z</dcterms:modified>
</cp:coreProperties>
</file>